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32634"/>
                </a:solidFill>
                <a:latin typeface="Arial"/>
              </a:defRPr>
            </a:pPr>
            <a:r>
              <a:rPr sz="1300" b="0" i="0" u="none" strike="noStrike">
                <a:solidFill>
                  <a:srgbClr val="232634"/>
                </a:solidFill>
                <a:latin typeface="Arial"/>
              </a:rPr>
              <a:t>Overconfidence gap (mean confidence minus accuracy) by difficulty tier</a:t>
            </a:r>
          </a:p>
        </c:rich>
      </c:tx>
      <c:layout/>
      <c:overlay val="0"/>
    </c:title>
    <c:autoTitleDeleted val="0"/>
    <c:plotArea>
      <c:layout/>
      <c:lineChart>
        <c:varyColors val="0"/>
        <c:ser>
          <c:idx val="0"/>
          <c:order val="0"/>
          <c:tx>
            <c:strRef>
              <c:f>Sheet1!$B$1</c:f>
              <c:strCache>
                <c:ptCount val="1"/>
                <c:pt idx="0">
                  <c:v>Claude Haiku</c:v>
                </c:pt>
              </c:strCache>
            </c:strRef>
          </c:tx>
          <c:spPr>
            <a:solidFill>
              <a:srgbClr val="1E2761"/>
            </a:solidFill>
            <a:ln w="38100" cap="flat">
              <a:solidFill>
                <a:srgbClr val="1E2761"/>
              </a:solidFill>
              <a:prstDash val="solid"/>
              <a:round/>
            </a:ln>
            <a:effectLst/>
          </c:spPr>
          <c:invertIfNegative val="0"/>
          <c:dLbls>
            <c:numFmt formatCode="0.00;-0.00" sourceLinked="0"/>
            <c:txPr>
              <a:bodyPr/>
              <a:lstStyle/>
              <a:p>
                <a:pPr>
                  <a:defRPr b="0" i="0" strike="noStrike" sz="900" u="none">
                    <a:solidFill>
                      <a:srgbClr val="5A6178"/>
                    </a:solidFill>
                    <a:latin typeface="Arial"/>
                  </a:defRPr>
                </a:pPr>
              </a:p>
            </c:txPr>
            <c:dLblPos val="t"/>
            <c:showLegendKey val="0"/>
            <c:showVal val="1"/>
            <c:showCatName val="0"/>
            <c:showSerName val="0"/>
            <c:showPercent val="0"/>
            <c:showBubbleSize val="0"/>
            <c:showLeaderLines val="0"/>
          </c:dLbls>
          <c:marker>
            <c:symbol val="circle"/>
            <c:size val="7"/>
            <c:spPr>
              <a:solidFill>
                <a:srgbClr val="1E2761"/>
              </a:solidFill>
              <a:ln w="9525" cap="flat">
                <a:solidFill>
                  <a:srgbClr val="1E2761"/>
                </a:solidFill>
                <a:prstDash val="solid"/>
                <a:round/>
              </a:ln>
              <a:effectLst/>
            </c:spPr>
          </c:marker>
          <c:cat>
            <c:multiLvlStrRef>
              <c:f>Sheet1!$A$2:$A$4</c:f>
              <c:multiLvlStrCache>
                <c:ptCount val="3"/>
                <c:lvl>
                  <c:pt idx="0">
                    <c:v>Easy</c:v>
                  </c:pt>
                  <c:pt idx="1">
                    <c:v>Medium</c:v>
                  </c:pt>
                  <c:pt idx="2">
                    <c:v>Hard</c:v>
                  </c:pt>
                </c:lvl>
              </c:multiLvlStrCache>
            </c:multiLvlStrRef>
          </c:cat>
          <c:val>
            <c:numRef>
              <c:f>Sheet1!$B$2:$B$4</c:f>
              <c:numCache>
                <c:formatCode>General</c:formatCode>
                <c:ptCount val="3"/>
                <c:pt idx="0">
                  <c:v>-0.041</c:v>
                </c:pt>
                <c:pt idx="1">
                  <c:v>-0.021</c:v>
                </c:pt>
                <c:pt idx="2">
                  <c:v>0.011</c:v>
                </c:pt>
              </c:numCache>
            </c:numRef>
          </c:val>
          <c:smooth val="0"/>
        </c:ser>
        <c:ser>
          <c:idx val="1"/>
          <c:order val="1"/>
          <c:tx>
            <c:strRef>
              <c:f>Sheet1!$C$1</c:f>
              <c:strCache>
                <c:ptCount val="1"/>
                <c:pt idx="0">
                  <c:v>GPT-4o-mini</c:v>
                </c:pt>
              </c:strCache>
            </c:strRef>
          </c:tx>
          <c:spPr>
            <a:solidFill>
              <a:srgbClr val="F96167"/>
            </a:solidFill>
            <a:ln w="38100" cap="flat">
              <a:solidFill>
                <a:srgbClr val="F96167"/>
              </a:solidFill>
              <a:prstDash val="solid"/>
              <a:round/>
            </a:ln>
            <a:effectLst/>
          </c:spPr>
          <c:invertIfNegative val="0"/>
          <c:dLbls>
            <c:numFmt formatCode="0.00;-0.00" sourceLinked="0"/>
            <c:txPr>
              <a:bodyPr/>
              <a:lstStyle/>
              <a:p>
                <a:pPr>
                  <a:defRPr b="0" i="0" strike="noStrike" sz="900" u="none">
                    <a:solidFill>
                      <a:srgbClr val="5A6178"/>
                    </a:solidFill>
                    <a:latin typeface="Arial"/>
                  </a:defRPr>
                </a:pPr>
              </a:p>
            </c:txPr>
            <c:dLblPos val="t"/>
            <c:showLegendKey val="0"/>
            <c:showVal val="1"/>
            <c:showCatName val="0"/>
            <c:showSerName val="0"/>
            <c:showPercent val="0"/>
            <c:showBubbleSize val="0"/>
            <c:showLeaderLines val="0"/>
          </c:dLbls>
          <c:marker>
            <c:symbol val="circle"/>
            <c:size val="7"/>
            <c:spPr>
              <a:solidFill>
                <a:srgbClr val="F96167"/>
              </a:solidFill>
              <a:ln w="9525" cap="flat">
                <a:solidFill>
                  <a:srgbClr val="F96167"/>
                </a:solidFill>
                <a:prstDash val="solid"/>
                <a:round/>
              </a:ln>
              <a:effectLst/>
            </c:spPr>
          </c:marker>
          <c:cat>
            <c:multiLvlStrRef>
              <c:f>Sheet1!$A$2:$A$4</c:f>
              <c:multiLvlStrCache>
                <c:ptCount val="3"/>
                <c:lvl>
                  <c:pt idx="0">
                    <c:v>Easy</c:v>
                  </c:pt>
                  <c:pt idx="1">
                    <c:v>Medium</c:v>
                  </c:pt>
                  <c:pt idx="2">
                    <c:v>Hard</c:v>
                  </c:pt>
                </c:lvl>
              </c:multiLvlStrCache>
            </c:multiLvlStrRef>
          </c:cat>
          <c:val>
            <c:numRef>
              <c:f>Sheet1!$C$2:$C$4</c:f>
              <c:numCache>
                <c:formatCode>General</c:formatCode>
                <c:ptCount val="3"/>
                <c:pt idx="0">
                  <c:v>0.028</c:v>
                </c:pt>
                <c:pt idx="1">
                  <c:v>0.086</c:v>
                </c:pt>
                <c:pt idx="2">
                  <c:v>0.354</c:v>
                </c:pt>
              </c:numCache>
            </c:numRef>
          </c:val>
          <c:smooth val="0"/>
        </c:ser>
        <c:ser>
          <c:idx val="2"/>
          <c:order val="2"/>
          <c:tx>
            <c:strRef>
              <c:f>Sheet1!$D$1</c:f>
              <c:strCache>
                <c:ptCount val="1"/>
                <c:pt idx="0">
                  <c:v>Gemini Flash-Lite</c:v>
                </c:pt>
              </c:strCache>
            </c:strRef>
          </c:tx>
          <c:spPr>
            <a:solidFill>
              <a:srgbClr val="E8B44A"/>
            </a:solidFill>
            <a:ln w="38100" cap="flat">
              <a:solidFill>
                <a:srgbClr val="E8B44A"/>
              </a:solidFill>
              <a:prstDash val="solid"/>
              <a:round/>
            </a:ln>
            <a:effectLst/>
          </c:spPr>
          <c:invertIfNegative val="0"/>
          <c:dLbls>
            <c:numFmt formatCode="0.00;-0.00" sourceLinked="0"/>
            <c:txPr>
              <a:bodyPr/>
              <a:lstStyle/>
              <a:p>
                <a:pPr>
                  <a:defRPr b="0" i="0" strike="noStrike" sz="900" u="none">
                    <a:solidFill>
                      <a:srgbClr val="5A6178"/>
                    </a:solidFill>
                    <a:latin typeface="Arial"/>
                  </a:defRPr>
                </a:pPr>
              </a:p>
            </c:txPr>
            <c:dLblPos val="t"/>
            <c:showLegendKey val="0"/>
            <c:showVal val="1"/>
            <c:showCatName val="0"/>
            <c:showSerName val="0"/>
            <c:showPercent val="0"/>
            <c:showBubbleSize val="0"/>
            <c:showLeaderLines val="0"/>
          </c:dLbls>
          <c:marker>
            <c:symbol val="circle"/>
            <c:size val="7"/>
            <c:spPr>
              <a:solidFill>
                <a:srgbClr val="E8B44A"/>
              </a:solidFill>
              <a:ln w="9525" cap="flat">
                <a:solidFill>
                  <a:srgbClr val="E8B44A"/>
                </a:solidFill>
                <a:prstDash val="solid"/>
                <a:round/>
              </a:ln>
              <a:effectLst/>
            </c:spPr>
          </c:marker>
          <c:cat>
            <c:multiLvlStrRef>
              <c:f>Sheet1!$A$2:$A$4</c:f>
              <c:multiLvlStrCache>
                <c:ptCount val="3"/>
                <c:lvl>
                  <c:pt idx="0">
                    <c:v>Easy</c:v>
                  </c:pt>
                  <c:pt idx="1">
                    <c:v>Medium</c:v>
                  </c:pt>
                  <c:pt idx="2">
                    <c:v>Hard</c:v>
                  </c:pt>
                </c:lvl>
              </c:multiLvlStrCache>
            </c:multiLvlStrRef>
          </c:cat>
          <c:val>
            <c:numRef>
              <c:f>Sheet1!$D$2:$D$4</c:f>
              <c:numCache>
                <c:formatCode>General</c:formatCode>
                <c:ptCount val="3"/>
                <c:pt idx="0">
                  <c:v>0.041</c:v>
                </c:pt>
                <c:pt idx="1">
                  <c:v>0.117</c:v>
                </c:pt>
                <c:pt idx="2">
                  <c:v>0.189</c:v>
                </c:pt>
              </c:numCache>
            </c:numRef>
          </c:val>
          <c:smooth val="0"/>
        </c:ser>
        <c:dLbls>
          <c:numFmt formatCode="0.00;-0.00" sourceLinked="0"/>
          <c:txPr>
            <a:bodyPr/>
            <a:lstStyle/>
            <a:p>
              <a:pPr>
                <a:defRPr b="0" i="0" strike="noStrike" sz="900" u="none">
                  <a:solidFill>
                    <a:srgbClr val="5A6178"/>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32634"/>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8F2"/>
              </a:solidFill>
              <a:prstDash val="solid"/>
              <a:round/>
            </a:ln>
          </c:spPr>
        </c:majorGridlines>
        <c:numFmt formatCode="0.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17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32634"/>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595360" y="-2194560"/>
            <a:ext cx="6858000" cy="6858000"/>
          </a:xfrm>
          <a:prstGeom prst="ellipse">
            <a:avLst/>
          </a:prstGeom>
          <a:solidFill>
            <a:srgbClr val="2A3577"/>
          </a:solidFill>
          <a:ln/>
        </p:spPr>
      </p:sp>
      <p:sp>
        <p:nvSpPr>
          <p:cNvPr id="3" name="Shape 1"/>
          <p:cNvSpPr/>
          <p:nvPr/>
        </p:nvSpPr>
        <p:spPr>
          <a:xfrm>
            <a:off x="-2194560" y="4480560"/>
            <a:ext cx="5486400" cy="5486400"/>
          </a:xfrm>
          <a:prstGeom prst="ellipse">
            <a:avLst/>
          </a:prstGeom>
          <a:solidFill>
            <a:srgbClr val="2A3577"/>
          </a:solidFill>
          <a:ln/>
        </p:spPr>
      </p:sp>
      <p:sp>
        <p:nvSpPr>
          <p:cNvPr id="4" name="Shape 2"/>
          <p:cNvSpPr/>
          <p:nvPr/>
        </p:nvSpPr>
        <p:spPr>
          <a:xfrm>
            <a:off x="777240" y="777240"/>
            <a:ext cx="868680" cy="868680"/>
          </a:xfrm>
          <a:prstGeom prst="ellipse">
            <a:avLst/>
          </a:prstGeom>
          <a:solidFill>
            <a:srgbClr val="2A3577"/>
          </a:solidFill>
          <a:ln/>
        </p:spPr>
      </p:sp>
      <p:pic>
        <p:nvPicPr>
          <p:cNvPr id="5" name="Image 0" descr="preencoded.png">    </p:cNvPr>
          <p:cNvPicPr>
            <a:picLocks noChangeAspect="1"/>
          </p:cNvPicPr>
          <p:nvPr/>
        </p:nvPicPr>
        <p:blipFill>
          <a:blip r:embed="rId1"/>
          <a:stretch>
            <a:fillRect/>
          </a:stretch>
        </p:blipFill>
        <p:spPr>
          <a:xfrm>
            <a:off x="968350" y="968350"/>
            <a:ext cx="486461" cy="486461"/>
          </a:xfrm>
          <a:prstGeom prst="rect">
            <a:avLst/>
          </a:prstGeom>
        </p:spPr>
      </p:pic>
      <p:sp>
        <p:nvSpPr>
          <p:cNvPr id="6" name="Text 3"/>
          <p:cNvSpPr/>
          <p:nvPr/>
        </p:nvSpPr>
        <p:spPr>
          <a:xfrm>
            <a:off x="777240" y="1874520"/>
            <a:ext cx="10607040" cy="411480"/>
          </a:xfrm>
          <a:prstGeom prst="rect">
            <a:avLst/>
          </a:prstGeom>
          <a:noFill/>
          <a:ln/>
        </p:spPr>
        <p:txBody>
          <a:bodyPr wrap="square" lIns="0" tIns="0" rIns="0" bIns="0" rtlCol="0" anchor="ctr"/>
          <a:lstStyle/>
          <a:p>
            <a:pPr indent="0" marL="0">
              <a:buNone/>
            </a:pPr>
            <a:r>
              <a:rPr lang="en-US" sz="1500" b="1" spc="400" kern="0" dirty="0">
                <a:solidFill>
                  <a:srgbClr val="CADCFC"/>
                </a:solidFill>
                <a:latin typeface="Calibri" pitchFamily="34" charset="0"/>
                <a:ea typeface="Calibri" pitchFamily="34" charset="-122"/>
                <a:cs typeface="Calibri" pitchFamily="34" charset="-120"/>
              </a:rPr>
              <a:t>DIFFICULTY-STRATIFIED EVALUATION</a:t>
            </a:r>
            <a:endParaRPr lang="en-US" sz="1500" dirty="0"/>
          </a:p>
        </p:txBody>
      </p:sp>
      <p:sp>
        <p:nvSpPr>
          <p:cNvPr id="7" name="Text 4"/>
          <p:cNvSpPr/>
          <p:nvPr/>
        </p:nvSpPr>
        <p:spPr>
          <a:xfrm>
            <a:off x="777240" y="2286000"/>
            <a:ext cx="10607040" cy="17373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Confidence Calibration in Large Language Models</a:t>
            </a:r>
            <a:endParaRPr lang="en-US" sz="4400" dirty="0"/>
          </a:p>
        </p:txBody>
      </p:sp>
      <p:sp>
        <p:nvSpPr>
          <p:cNvPr id="8" name="Text 5"/>
          <p:cNvSpPr/>
          <p:nvPr/>
        </p:nvSpPr>
        <p:spPr>
          <a:xfrm>
            <a:off x="777240" y="4069080"/>
            <a:ext cx="8961120" cy="685800"/>
          </a:xfrm>
          <a:prstGeom prst="rect">
            <a:avLst/>
          </a:prstGeom>
          <a:noFill/>
          <a:ln/>
        </p:spPr>
        <p:txBody>
          <a:bodyPr wrap="square" lIns="0" tIns="0" rIns="0" bIns="0" rtlCol="0" anchor="ctr"/>
          <a:lstStyle/>
          <a:p>
            <a:pPr indent="0" marL="0">
              <a:buNone/>
            </a:pPr>
            <a:r>
              <a:rPr lang="en-US" sz="1700" i="1" dirty="0">
                <a:solidFill>
                  <a:srgbClr val="CADCFC"/>
                </a:solidFill>
                <a:latin typeface="Calibri" pitchFamily="34" charset="0"/>
                <a:ea typeface="Calibri" pitchFamily="34" charset="-122"/>
                <a:cs typeface="Calibri" pitchFamily="34" charset="-120"/>
              </a:rPr>
              <a:t>Do language models know when they might be wrong, and does that get worse as questions get harder?</a:t>
            </a:r>
            <a:endParaRPr lang="en-US" sz="1700" dirty="0"/>
          </a:p>
        </p:txBody>
      </p:sp>
      <p:sp>
        <p:nvSpPr>
          <p:cNvPr id="9" name="Shape 6"/>
          <p:cNvSpPr/>
          <p:nvPr/>
        </p:nvSpPr>
        <p:spPr>
          <a:xfrm>
            <a:off x="777240" y="5166360"/>
            <a:ext cx="4754880" cy="0"/>
          </a:xfrm>
          <a:prstGeom prst="line">
            <a:avLst/>
          </a:prstGeom>
          <a:noFill/>
          <a:ln w="19050">
            <a:solidFill>
              <a:srgbClr val="2A3577"/>
            </a:solidFill>
            <a:prstDash val="solid"/>
          </a:ln>
        </p:spPr>
      </p:sp>
      <p:sp>
        <p:nvSpPr>
          <p:cNvPr id="10" name="Text 7"/>
          <p:cNvSpPr/>
          <p:nvPr/>
        </p:nvSpPr>
        <p:spPr>
          <a:xfrm>
            <a:off x="777240" y="5349240"/>
            <a:ext cx="8229600" cy="8229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Yohan Deshpande  •  Akul Bajpai</a:t>
            </a:r>
            <a:endParaRPr lang="en-US" sz="1600" dirty="0"/>
          </a:p>
          <a:p>
            <a:pPr indent="0" marL="0">
              <a:buNone/>
            </a:pPr>
            <a:r>
              <a:rPr lang="en-US" sz="1300" dirty="0">
                <a:solidFill>
                  <a:srgbClr val="CADCFC"/>
                </a:solidFill>
                <a:latin typeface="Calibri" pitchFamily="34" charset="0"/>
                <a:ea typeface="Calibri" pitchFamily="34" charset="-122"/>
                <a:cs typeface="Calibri" pitchFamily="34" charset="-120"/>
              </a:rPr>
              <a:t>Monroe Township High School  |  Research Brief,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92608"/>
          </a:xfrm>
          <a:prstGeom prst="rect">
            <a:avLst/>
          </a:prstGeom>
          <a:noFill/>
          <a:ln/>
        </p:spPr>
        <p:txBody>
          <a:bodyPr wrap="square" lIns="0" tIns="0" rIns="0" bIns="0" rtlCol="0" anchor="ctr"/>
          <a:lstStyle/>
          <a:p>
            <a:pPr indent="0" marL="0">
              <a:buNone/>
            </a:pPr>
            <a:r>
              <a:rPr lang="en-US" sz="1250" b="1" spc="300" kern="0" dirty="0">
                <a:solidFill>
                  <a:srgbClr val="F96167"/>
                </a:solidFill>
                <a:latin typeface="Calibri" pitchFamily="34" charset="0"/>
                <a:ea typeface="Calibri" pitchFamily="34" charset="-122"/>
                <a:cs typeface="Calibri" pitchFamily="34" charset="-120"/>
              </a:rPr>
              <a:t>PROBLEM STATEMENT</a:t>
            </a:r>
            <a:endParaRPr lang="en-US" sz="12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The Problem with Confident Answers</a:t>
            </a:r>
            <a:endParaRPr lang="en-US" sz="3200" dirty="0"/>
          </a:p>
        </p:txBody>
      </p:sp>
      <p:sp>
        <p:nvSpPr>
          <p:cNvPr id="4" name="Shape 2"/>
          <p:cNvSpPr/>
          <p:nvPr/>
        </p:nvSpPr>
        <p:spPr>
          <a:xfrm>
            <a:off x="640080" y="1691640"/>
            <a:ext cx="658368" cy="658368"/>
          </a:xfrm>
          <a:prstGeom prst="ellipse">
            <a:avLst/>
          </a:prstGeom>
          <a:solidFill>
            <a:srgbClr val="1E2761"/>
          </a:solidFill>
          <a:ln/>
        </p:spPr>
      </p:sp>
      <p:pic>
        <p:nvPicPr>
          <p:cNvPr id="5" name="Image 0" descr="preencoded.png">    </p:cNvPr>
          <p:cNvPicPr>
            <a:picLocks noChangeAspect="1"/>
          </p:cNvPicPr>
          <p:nvPr/>
        </p:nvPicPr>
        <p:blipFill>
          <a:blip r:embed="rId1"/>
          <a:stretch>
            <a:fillRect/>
          </a:stretch>
        </p:blipFill>
        <p:spPr>
          <a:xfrm>
            <a:off x="784921" y="1836481"/>
            <a:ext cx="368686" cy="368686"/>
          </a:xfrm>
          <a:prstGeom prst="rect">
            <a:avLst/>
          </a:prstGeom>
        </p:spPr>
      </p:pic>
      <p:sp>
        <p:nvSpPr>
          <p:cNvPr id="6" name="Text 3"/>
          <p:cNvSpPr/>
          <p:nvPr/>
        </p:nvSpPr>
        <p:spPr>
          <a:xfrm>
            <a:off x="1600200" y="1636776"/>
            <a:ext cx="9784080" cy="365760"/>
          </a:xfrm>
          <a:prstGeom prst="rect">
            <a:avLst/>
          </a:prstGeom>
          <a:noFill/>
          <a:ln/>
        </p:spPr>
        <p:txBody>
          <a:bodyPr wrap="square" lIns="0" tIns="0" rIns="0" bIns="0" rtlCol="0" anchor="ctr"/>
          <a:lstStyle/>
          <a:p>
            <a:pPr indent="0" marL="0">
              <a:buNone/>
            </a:pPr>
            <a:r>
              <a:rPr lang="en-US" sz="1800" b="1" dirty="0">
                <a:solidFill>
                  <a:srgbClr val="232634"/>
                </a:solidFill>
                <a:latin typeface="Calibri" pitchFamily="34" charset="0"/>
                <a:ea typeface="Calibri" pitchFamily="34" charset="-122"/>
                <a:cs typeface="Calibri" pitchFamily="34" charset="-120"/>
              </a:rPr>
              <a:t>LLMs sound sure of themselves</a:t>
            </a:r>
            <a:endParaRPr lang="en-US" sz="1800" dirty="0"/>
          </a:p>
        </p:txBody>
      </p:sp>
      <p:sp>
        <p:nvSpPr>
          <p:cNvPr id="7" name="Text 4"/>
          <p:cNvSpPr/>
          <p:nvPr/>
        </p:nvSpPr>
        <p:spPr>
          <a:xfrm>
            <a:off x="1600200" y="2002536"/>
            <a:ext cx="9784080" cy="914400"/>
          </a:xfrm>
          <a:prstGeom prst="rect">
            <a:avLst/>
          </a:prstGeom>
          <a:noFill/>
          <a:ln/>
        </p:spPr>
        <p:txBody>
          <a:bodyPr wrap="square" lIns="0" tIns="0" rIns="0" bIns="0" rtlCol="0" anchor="ctr"/>
          <a:lstStyle/>
          <a:p>
            <a:pPr indent="0" marL="0">
              <a:buNone/>
            </a:pPr>
            <a:r>
              <a:rPr lang="en-US" sz="1450" dirty="0">
                <a:solidFill>
                  <a:srgbClr val="5A6178"/>
                </a:solidFill>
                <a:latin typeface="Calibri" pitchFamily="34" charset="0"/>
                <a:ea typeface="Calibri" pitchFamily="34" charset="-122"/>
                <a:cs typeface="Calibri" pitchFamily="34" charset="-120"/>
              </a:rPr>
              <a:t>Language models are used every day as study aids and decision support tools. Their answers sound fluent and confident even when the information behind them is wrong.</a:t>
            </a:r>
            <a:endParaRPr lang="en-US" sz="1450" dirty="0"/>
          </a:p>
        </p:txBody>
      </p:sp>
      <p:sp>
        <p:nvSpPr>
          <p:cNvPr id="8" name="Shape 5"/>
          <p:cNvSpPr/>
          <p:nvPr/>
        </p:nvSpPr>
        <p:spPr>
          <a:xfrm>
            <a:off x="640080" y="3172968"/>
            <a:ext cx="658368" cy="658368"/>
          </a:xfrm>
          <a:prstGeom prst="ellipse">
            <a:avLst/>
          </a:prstGeom>
          <a:solidFill>
            <a:srgbClr val="1E2761"/>
          </a:solidFill>
          <a:ln/>
        </p:spPr>
      </p:sp>
      <p:pic>
        <p:nvPicPr>
          <p:cNvPr id="9" name="Image 1" descr="preencoded.png">    </p:cNvPr>
          <p:cNvPicPr>
            <a:picLocks noChangeAspect="1"/>
          </p:cNvPicPr>
          <p:nvPr/>
        </p:nvPicPr>
        <p:blipFill>
          <a:blip r:embed="rId2"/>
          <a:stretch>
            <a:fillRect/>
          </a:stretch>
        </p:blipFill>
        <p:spPr>
          <a:xfrm>
            <a:off x="784921" y="3317809"/>
            <a:ext cx="368686" cy="368686"/>
          </a:xfrm>
          <a:prstGeom prst="rect">
            <a:avLst/>
          </a:prstGeom>
        </p:spPr>
      </p:pic>
      <p:sp>
        <p:nvSpPr>
          <p:cNvPr id="10" name="Text 6"/>
          <p:cNvSpPr/>
          <p:nvPr/>
        </p:nvSpPr>
        <p:spPr>
          <a:xfrm>
            <a:off x="1600200" y="3118104"/>
            <a:ext cx="9784080" cy="365760"/>
          </a:xfrm>
          <a:prstGeom prst="rect">
            <a:avLst/>
          </a:prstGeom>
          <a:noFill/>
          <a:ln/>
        </p:spPr>
        <p:txBody>
          <a:bodyPr wrap="square" lIns="0" tIns="0" rIns="0" bIns="0" rtlCol="0" anchor="ctr"/>
          <a:lstStyle/>
          <a:p>
            <a:pPr indent="0" marL="0">
              <a:buNone/>
            </a:pPr>
            <a:r>
              <a:rPr lang="en-US" sz="1800" b="1" dirty="0">
                <a:solidFill>
                  <a:srgbClr val="232634"/>
                </a:solidFill>
                <a:latin typeface="Calibri" pitchFamily="34" charset="0"/>
                <a:ea typeface="Calibri" pitchFamily="34" charset="-122"/>
                <a:cs typeface="Calibri" pitchFamily="34" charset="-120"/>
              </a:rPr>
              <a:t>Calibration is the safeguard</a:t>
            </a:r>
            <a:endParaRPr lang="en-US" sz="1800" dirty="0"/>
          </a:p>
        </p:txBody>
      </p:sp>
      <p:sp>
        <p:nvSpPr>
          <p:cNvPr id="11" name="Text 7"/>
          <p:cNvSpPr/>
          <p:nvPr/>
        </p:nvSpPr>
        <p:spPr>
          <a:xfrm>
            <a:off x="1600200" y="3483864"/>
            <a:ext cx="9784080" cy="914400"/>
          </a:xfrm>
          <a:prstGeom prst="rect">
            <a:avLst/>
          </a:prstGeom>
          <a:noFill/>
          <a:ln/>
        </p:spPr>
        <p:txBody>
          <a:bodyPr wrap="square" lIns="0" tIns="0" rIns="0" bIns="0" rtlCol="0" anchor="ctr"/>
          <a:lstStyle/>
          <a:p>
            <a:pPr indent="0" marL="0">
              <a:buNone/>
            </a:pPr>
            <a:r>
              <a:rPr lang="en-US" sz="1450" dirty="0">
                <a:solidFill>
                  <a:srgbClr val="5A6178"/>
                </a:solidFill>
                <a:latin typeface="Calibri" pitchFamily="34" charset="0"/>
                <a:ea typeface="Calibri" pitchFamily="34" charset="-122"/>
                <a:cs typeface="Calibri" pitchFamily="34" charset="-120"/>
              </a:rPr>
              <a:t>Calibration asks a simple question: when a model says it is 95% confident, is it actually right about 95% of the time? A poorly calibrated model misleads the people who rely on it.</a:t>
            </a:r>
            <a:endParaRPr lang="en-US" sz="1450" dirty="0"/>
          </a:p>
        </p:txBody>
      </p:sp>
      <p:sp>
        <p:nvSpPr>
          <p:cNvPr id="12" name="Shape 8"/>
          <p:cNvSpPr/>
          <p:nvPr/>
        </p:nvSpPr>
        <p:spPr>
          <a:xfrm>
            <a:off x="640080" y="4654296"/>
            <a:ext cx="658368" cy="658368"/>
          </a:xfrm>
          <a:prstGeom prst="ellipse">
            <a:avLst/>
          </a:prstGeom>
          <a:solidFill>
            <a:srgbClr val="1E2761"/>
          </a:solidFill>
          <a:ln/>
        </p:spPr>
      </p:sp>
      <p:pic>
        <p:nvPicPr>
          <p:cNvPr id="13" name="Image 2" descr="preencoded.png">    </p:cNvPr>
          <p:cNvPicPr>
            <a:picLocks noChangeAspect="1"/>
          </p:cNvPicPr>
          <p:nvPr/>
        </p:nvPicPr>
        <p:blipFill>
          <a:blip r:embed="rId3"/>
          <a:stretch>
            <a:fillRect/>
          </a:stretch>
        </p:blipFill>
        <p:spPr>
          <a:xfrm>
            <a:off x="784921" y="4799137"/>
            <a:ext cx="368686" cy="368686"/>
          </a:xfrm>
          <a:prstGeom prst="rect">
            <a:avLst/>
          </a:prstGeom>
        </p:spPr>
      </p:pic>
      <p:sp>
        <p:nvSpPr>
          <p:cNvPr id="14" name="Text 9"/>
          <p:cNvSpPr/>
          <p:nvPr/>
        </p:nvSpPr>
        <p:spPr>
          <a:xfrm>
            <a:off x="1600200" y="4599432"/>
            <a:ext cx="9784080" cy="365760"/>
          </a:xfrm>
          <a:prstGeom prst="rect">
            <a:avLst/>
          </a:prstGeom>
          <a:noFill/>
          <a:ln/>
        </p:spPr>
        <p:txBody>
          <a:bodyPr wrap="square" lIns="0" tIns="0" rIns="0" bIns="0" rtlCol="0" anchor="ctr"/>
          <a:lstStyle/>
          <a:p>
            <a:pPr indent="0" marL="0">
              <a:buNone/>
            </a:pPr>
            <a:r>
              <a:rPr lang="en-US" sz="1800" b="1" dirty="0">
                <a:solidFill>
                  <a:srgbClr val="232634"/>
                </a:solidFill>
                <a:latin typeface="Calibri" pitchFamily="34" charset="0"/>
                <a:ea typeface="Calibri" pitchFamily="34" charset="-122"/>
                <a:cs typeface="Calibri" pitchFamily="34" charset="-120"/>
              </a:rPr>
              <a:t>Difficulty may make it worse</a:t>
            </a:r>
            <a:endParaRPr lang="en-US" sz="1800" dirty="0"/>
          </a:p>
        </p:txBody>
      </p:sp>
      <p:sp>
        <p:nvSpPr>
          <p:cNvPr id="15" name="Text 10"/>
          <p:cNvSpPr/>
          <p:nvPr/>
        </p:nvSpPr>
        <p:spPr>
          <a:xfrm>
            <a:off x="1600200" y="4965192"/>
            <a:ext cx="9784080" cy="914400"/>
          </a:xfrm>
          <a:prstGeom prst="rect">
            <a:avLst/>
          </a:prstGeom>
          <a:noFill/>
          <a:ln/>
        </p:spPr>
        <p:txBody>
          <a:bodyPr wrap="square" lIns="0" tIns="0" rIns="0" bIns="0" rtlCol="0" anchor="ctr"/>
          <a:lstStyle/>
          <a:p>
            <a:pPr indent="0" marL="0">
              <a:buNone/>
            </a:pPr>
            <a:r>
              <a:rPr lang="en-US" sz="1450" dirty="0">
                <a:solidFill>
                  <a:srgbClr val="5A6178"/>
                </a:solidFill>
                <a:latin typeface="Calibri" pitchFamily="34" charset="0"/>
                <a:ea typeface="Calibri" pitchFamily="34" charset="-122"/>
                <a:cs typeface="Calibri" pitchFamily="34" charset="-120"/>
              </a:rPr>
              <a:t>Research on human judgment shows that overconfidence grows on difficult tasks (Moore &amp; Healy, 2008). If LLMs behave the same way, their confidence is least reliable on the hardest questions.</a:t>
            </a:r>
            <a:endParaRPr lang="en-US" sz="1450" dirty="0"/>
          </a:p>
        </p:txBody>
      </p:sp>
      <p:sp>
        <p:nvSpPr>
          <p:cNvPr id="16" name="Shape 11"/>
          <p:cNvSpPr/>
          <p:nvPr/>
        </p:nvSpPr>
        <p:spPr>
          <a:xfrm>
            <a:off x="640080" y="6053328"/>
            <a:ext cx="10881360" cy="502920"/>
          </a:xfrm>
          <a:prstGeom prst="roundRect">
            <a:avLst>
              <a:gd name="adj" fmla="val 14545"/>
            </a:avLst>
          </a:prstGeom>
          <a:solidFill>
            <a:srgbClr val="F4F7FE"/>
          </a:solidFill>
          <a:ln/>
        </p:spPr>
      </p:sp>
      <p:sp>
        <p:nvSpPr>
          <p:cNvPr id="17" name="Text 12"/>
          <p:cNvSpPr/>
          <p:nvPr/>
        </p:nvSpPr>
        <p:spPr>
          <a:xfrm>
            <a:off x="868680" y="6053328"/>
            <a:ext cx="10515600" cy="5029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Why it matters:  </a:t>
            </a:r>
            <a:pPr indent="0" marL="0">
              <a:buNone/>
            </a:pPr>
            <a:r>
              <a:rPr lang="en-US" sz="1350" dirty="0">
                <a:solidFill>
                  <a:srgbClr val="232634"/>
                </a:solidFill>
                <a:latin typeface="Calibri" pitchFamily="34" charset="0"/>
                <a:ea typeface="Calibri" pitchFamily="34" charset="-122"/>
                <a:cs typeface="Calibri" pitchFamily="34" charset="-120"/>
              </a:rPr>
              <a:t>people often overestimate how accurate LLMs are (Steyvers et al., 2025), so miscommunicated confidence carries real costs.</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4206240"/>
            <a:ext cx="5029200" cy="5029200"/>
          </a:xfrm>
          <a:prstGeom prst="ellipse">
            <a:avLst/>
          </a:prstGeom>
          <a:solidFill>
            <a:srgbClr val="2A3577"/>
          </a:solidFill>
          <a:ln/>
        </p:spPr>
      </p:sp>
      <p:sp>
        <p:nvSpPr>
          <p:cNvPr id="3" name="Text 1"/>
          <p:cNvSpPr/>
          <p:nvPr/>
        </p:nvSpPr>
        <p:spPr>
          <a:xfrm>
            <a:off x="777240" y="502920"/>
            <a:ext cx="10607040" cy="320040"/>
          </a:xfrm>
          <a:prstGeom prst="rect">
            <a:avLst/>
          </a:prstGeom>
          <a:noFill/>
          <a:ln/>
        </p:spPr>
        <p:txBody>
          <a:bodyPr wrap="square" lIns="0" tIns="0" rIns="0" bIns="0" rtlCol="0" anchor="ctr"/>
          <a:lstStyle/>
          <a:p>
            <a:pPr indent="0" marL="0">
              <a:buNone/>
            </a:pPr>
            <a:r>
              <a:rPr lang="en-US" sz="1300" b="1" spc="300" kern="0" dirty="0">
                <a:solidFill>
                  <a:srgbClr val="CADCFC"/>
                </a:solidFill>
                <a:latin typeface="Calibri" pitchFamily="34" charset="0"/>
                <a:ea typeface="Calibri" pitchFamily="34" charset="-122"/>
                <a:cs typeface="Calibri" pitchFamily="34" charset="-120"/>
              </a:rPr>
              <a:t>RESEARCH QUESTION &amp; OBJECTIVE</a:t>
            </a:r>
            <a:endParaRPr lang="en-US" sz="1300" dirty="0"/>
          </a:p>
        </p:txBody>
      </p:sp>
      <p:sp>
        <p:nvSpPr>
          <p:cNvPr id="4" name="Shape 2"/>
          <p:cNvSpPr/>
          <p:nvPr/>
        </p:nvSpPr>
        <p:spPr>
          <a:xfrm>
            <a:off x="777240" y="1234440"/>
            <a:ext cx="777240" cy="777240"/>
          </a:xfrm>
          <a:prstGeom prst="ellipse">
            <a:avLst/>
          </a:prstGeom>
          <a:solidFill>
            <a:srgbClr val="2A3577"/>
          </a:solidFill>
          <a:ln/>
        </p:spPr>
      </p:sp>
      <p:pic>
        <p:nvPicPr>
          <p:cNvPr id="5" name="Image 0" descr="preencoded.png">    </p:cNvPr>
          <p:cNvPicPr>
            <a:picLocks noChangeAspect="1"/>
          </p:cNvPicPr>
          <p:nvPr/>
        </p:nvPicPr>
        <p:blipFill>
          <a:blip r:embed="rId1"/>
          <a:stretch>
            <a:fillRect/>
          </a:stretch>
        </p:blipFill>
        <p:spPr>
          <a:xfrm>
            <a:off x="948233" y="1405433"/>
            <a:ext cx="435254" cy="435254"/>
          </a:xfrm>
          <a:prstGeom prst="rect">
            <a:avLst/>
          </a:prstGeom>
        </p:spPr>
      </p:pic>
      <p:sp>
        <p:nvSpPr>
          <p:cNvPr id="6" name="Text 3"/>
          <p:cNvSpPr/>
          <p:nvPr/>
        </p:nvSpPr>
        <p:spPr>
          <a:xfrm>
            <a:off x="777240" y="2240280"/>
            <a:ext cx="10424160" cy="173736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How does task difficulty influence the calibration of verbally reported confidence in modern API language models, and does miscalibration grow as questions become harder?</a:t>
            </a:r>
            <a:endParaRPr lang="en-US" sz="2600" dirty="0"/>
          </a:p>
        </p:txBody>
      </p:sp>
      <p:sp>
        <p:nvSpPr>
          <p:cNvPr id="7" name="Shape 4"/>
          <p:cNvSpPr/>
          <p:nvPr/>
        </p:nvSpPr>
        <p:spPr>
          <a:xfrm>
            <a:off x="777240" y="4343400"/>
            <a:ext cx="4754880" cy="0"/>
          </a:xfrm>
          <a:prstGeom prst="line">
            <a:avLst/>
          </a:prstGeom>
          <a:noFill/>
          <a:ln w="19050">
            <a:solidFill>
              <a:srgbClr val="2A3577"/>
            </a:solidFill>
            <a:prstDash val="solid"/>
          </a:ln>
        </p:spPr>
      </p:sp>
      <p:sp>
        <p:nvSpPr>
          <p:cNvPr id="8" name="Text 5"/>
          <p:cNvSpPr/>
          <p:nvPr/>
        </p:nvSpPr>
        <p:spPr>
          <a:xfrm>
            <a:off x="777240" y="4526280"/>
            <a:ext cx="3657600" cy="320040"/>
          </a:xfrm>
          <a:prstGeom prst="rect">
            <a:avLst/>
          </a:prstGeom>
          <a:noFill/>
          <a:ln/>
        </p:spPr>
        <p:txBody>
          <a:bodyPr wrap="square" lIns="0" tIns="0" rIns="0" bIns="0" rtlCol="0" anchor="ctr"/>
          <a:lstStyle/>
          <a:p>
            <a:pPr indent="0" marL="0">
              <a:buNone/>
            </a:pPr>
            <a:r>
              <a:rPr lang="en-US" sz="1500" b="1" dirty="0">
                <a:solidFill>
                  <a:srgbClr val="CADCFC"/>
                </a:solidFill>
                <a:latin typeface="Calibri" pitchFamily="34" charset="0"/>
                <a:ea typeface="Calibri" pitchFamily="34" charset="-122"/>
                <a:cs typeface="Calibri" pitchFamily="34" charset="-120"/>
              </a:rPr>
              <a:t>Objective</a:t>
            </a:r>
            <a:endParaRPr lang="en-US" sz="1500" dirty="0"/>
          </a:p>
        </p:txBody>
      </p:sp>
      <p:sp>
        <p:nvSpPr>
          <p:cNvPr id="9" name="Text 6"/>
          <p:cNvSpPr/>
          <p:nvPr/>
        </p:nvSpPr>
        <p:spPr>
          <a:xfrm>
            <a:off x="777240" y="4864608"/>
            <a:ext cx="10424160" cy="1463040"/>
          </a:xfrm>
          <a:prstGeom prst="rect">
            <a:avLst/>
          </a:prstGeom>
          <a:noFill/>
          <a:ln/>
        </p:spPr>
        <p:txBody>
          <a:bodyPr wrap="square" lIns="0" tIns="0" rIns="0" bIns="0" rtlCol="0" anchor="ctr"/>
          <a:lstStyle/>
          <a:p>
            <a:pPr indent="0" marL="0">
              <a:buNone/>
            </a:pPr>
            <a:r>
              <a:rPr lang="en-US" sz="1550" dirty="0">
                <a:solidFill>
                  <a:srgbClr val="CADCFC"/>
                </a:solidFill>
                <a:latin typeface="Calibri" pitchFamily="34" charset="0"/>
                <a:ea typeface="Calibri" pitchFamily="34" charset="-122"/>
                <a:cs typeface="Calibri" pitchFamily="34" charset="-120"/>
              </a:rPr>
              <a:t>Evaluate Claude Haiku, GPT-4o-mini, and Gemini 3.1 Flash-Lite on a difficulty stratified MMLU bank under one locked answer plus confidence protocol. Calibration is measured with accuracy, overconfidence gap, ECE, bootstrap confidence intervals, and Holm corrected difficulty regressions, with verbal and internal token confidence compared where available.</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92608"/>
          </a:xfrm>
          <a:prstGeom prst="rect">
            <a:avLst/>
          </a:prstGeom>
          <a:noFill/>
          <a:ln/>
        </p:spPr>
        <p:txBody>
          <a:bodyPr wrap="square" lIns="0" tIns="0" rIns="0" bIns="0" rtlCol="0" anchor="ctr"/>
          <a:lstStyle/>
          <a:p>
            <a:pPr indent="0" marL="0">
              <a:buNone/>
            </a:pPr>
            <a:r>
              <a:rPr lang="en-US" sz="1250" b="1" spc="300" kern="0" dirty="0">
                <a:solidFill>
                  <a:srgbClr val="F96167"/>
                </a:solidFill>
                <a:latin typeface="Calibri" pitchFamily="34" charset="0"/>
                <a:ea typeface="Calibri" pitchFamily="34" charset="-122"/>
                <a:cs typeface="Calibri" pitchFamily="34" charset="-120"/>
              </a:rPr>
              <a:t>SOURCE LITERATURE REVIEW</a:t>
            </a:r>
            <a:endParaRPr lang="en-US" sz="12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Prior Research and the Gap</a:t>
            </a:r>
            <a:endParaRPr lang="en-US" sz="3200" dirty="0"/>
          </a:p>
        </p:txBody>
      </p:sp>
      <p:sp>
        <p:nvSpPr>
          <p:cNvPr id="4" name="Shape 2"/>
          <p:cNvSpPr/>
          <p:nvPr/>
        </p:nvSpPr>
        <p:spPr>
          <a:xfrm>
            <a:off x="640080" y="1645920"/>
            <a:ext cx="5349240" cy="1920240"/>
          </a:xfrm>
          <a:prstGeom prst="roundRect">
            <a:avLst>
              <a:gd name="adj" fmla="val 4286"/>
            </a:avLst>
          </a:prstGeom>
          <a:solidFill>
            <a:srgbClr val="F4F7FE"/>
          </a:solidFill>
          <a:ln/>
        </p:spPr>
      </p:sp>
      <p:sp>
        <p:nvSpPr>
          <p:cNvPr id="5" name="Shape 3"/>
          <p:cNvSpPr/>
          <p:nvPr/>
        </p:nvSpPr>
        <p:spPr>
          <a:xfrm>
            <a:off x="841248" y="1847088"/>
            <a:ext cx="502920" cy="502920"/>
          </a:xfrm>
          <a:prstGeom prst="ellipse">
            <a:avLst/>
          </a:prstGeom>
          <a:solidFill>
            <a:srgbClr val="CADCFC"/>
          </a:solidFill>
          <a:ln/>
        </p:spPr>
      </p:sp>
      <p:pic>
        <p:nvPicPr>
          <p:cNvPr id="6" name="Image 0" descr="preencoded.png">    </p:cNvPr>
          <p:cNvPicPr>
            <a:picLocks noChangeAspect="1"/>
          </p:cNvPicPr>
          <p:nvPr/>
        </p:nvPicPr>
        <p:blipFill>
          <a:blip r:embed="rId1"/>
          <a:stretch>
            <a:fillRect/>
          </a:stretch>
        </p:blipFill>
        <p:spPr>
          <a:xfrm>
            <a:off x="951890" y="1957730"/>
            <a:ext cx="281635" cy="281635"/>
          </a:xfrm>
          <a:prstGeom prst="rect">
            <a:avLst/>
          </a:prstGeom>
        </p:spPr>
      </p:pic>
      <p:sp>
        <p:nvSpPr>
          <p:cNvPr id="7" name="Text 4"/>
          <p:cNvSpPr/>
          <p:nvPr/>
        </p:nvSpPr>
        <p:spPr>
          <a:xfrm>
            <a:off x="1508760" y="1865376"/>
            <a:ext cx="4297680"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Human judgment</a:t>
            </a:r>
            <a:endParaRPr lang="en-US" sz="1600" dirty="0"/>
          </a:p>
        </p:txBody>
      </p:sp>
      <p:sp>
        <p:nvSpPr>
          <p:cNvPr id="8" name="Text 5"/>
          <p:cNvSpPr/>
          <p:nvPr/>
        </p:nvSpPr>
        <p:spPr>
          <a:xfrm>
            <a:off x="896112" y="2395728"/>
            <a:ext cx="4837176" cy="1005840"/>
          </a:xfrm>
          <a:prstGeom prst="rect">
            <a:avLst/>
          </a:prstGeom>
          <a:noFill/>
          <a:ln/>
        </p:spPr>
        <p:txBody>
          <a:bodyPr wrap="square" lIns="0" tIns="0" rIns="0" bIns="0" rtlCol="0" anchor="ctr"/>
          <a:lstStyle/>
          <a:p>
            <a:pPr indent="0" marL="0">
              <a:buNone/>
            </a:pPr>
            <a:r>
              <a:rPr lang="en-US" sz="1250" dirty="0">
                <a:solidFill>
                  <a:srgbClr val="232634"/>
                </a:solidFill>
                <a:latin typeface="Calibri" pitchFamily="34" charset="0"/>
                <a:ea typeface="Calibri" pitchFamily="34" charset="-122"/>
                <a:cs typeface="Calibri" pitchFamily="34" charset="-120"/>
              </a:rPr>
              <a:t>Moore &amp; Healy (2008) found that people grow overconfident on hard tasks. Kruger &amp; Dunning (1999) showed that limited skill often comes with limited insight into it.</a:t>
            </a:r>
            <a:endParaRPr lang="en-US" sz="1250" dirty="0"/>
          </a:p>
        </p:txBody>
      </p:sp>
      <p:sp>
        <p:nvSpPr>
          <p:cNvPr id="9" name="Shape 6"/>
          <p:cNvSpPr/>
          <p:nvPr/>
        </p:nvSpPr>
        <p:spPr>
          <a:xfrm>
            <a:off x="6172200" y="1645920"/>
            <a:ext cx="5349240" cy="1920240"/>
          </a:xfrm>
          <a:prstGeom prst="roundRect">
            <a:avLst>
              <a:gd name="adj" fmla="val 4286"/>
            </a:avLst>
          </a:prstGeom>
          <a:solidFill>
            <a:srgbClr val="F4F7FE"/>
          </a:solidFill>
          <a:ln/>
        </p:spPr>
      </p:sp>
      <p:sp>
        <p:nvSpPr>
          <p:cNvPr id="10" name="Shape 7"/>
          <p:cNvSpPr/>
          <p:nvPr/>
        </p:nvSpPr>
        <p:spPr>
          <a:xfrm>
            <a:off x="6373368" y="1847088"/>
            <a:ext cx="502920" cy="502920"/>
          </a:xfrm>
          <a:prstGeom prst="ellipse">
            <a:avLst/>
          </a:prstGeom>
          <a:solidFill>
            <a:srgbClr val="CADCFC"/>
          </a:solidFill>
          <a:ln/>
        </p:spPr>
      </p:sp>
      <p:pic>
        <p:nvPicPr>
          <p:cNvPr id="11" name="Image 1" descr="preencoded.png">    </p:cNvPr>
          <p:cNvPicPr>
            <a:picLocks noChangeAspect="1"/>
          </p:cNvPicPr>
          <p:nvPr/>
        </p:nvPicPr>
        <p:blipFill>
          <a:blip r:embed="rId2"/>
          <a:stretch>
            <a:fillRect/>
          </a:stretch>
        </p:blipFill>
        <p:spPr>
          <a:xfrm>
            <a:off x="6484010" y="1957730"/>
            <a:ext cx="281635" cy="281635"/>
          </a:xfrm>
          <a:prstGeom prst="rect">
            <a:avLst/>
          </a:prstGeom>
        </p:spPr>
      </p:pic>
      <p:sp>
        <p:nvSpPr>
          <p:cNvPr id="12" name="Text 8"/>
          <p:cNvSpPr/>
          <p:nvPr/>
        </p:nvSpPr>
        <p:spPr>
          <a:xfrm>
            <a:off x="7040880" y="1865376"/>
            <a:ext cx="4297680"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ML calibration</a:t>
            </a:r>
            <a:endParaRPr lang="en-US" sz="1600" dirty="0"/>
          </a:p>
        </p:txBody>
      </p:sp>
      <p:sp>
        <p:nvSpPr>
          <p:cNvPr id="13" name="Text 9"/>
          <p:cNvSpPr/>
          <p:nvPr/>
        </p:nvSpPr>
        <p:spPr>
          <a:xfrm>
            <a:off x="6428232" y="2395728"/>
            <a:ext cx="4837176" cy="1005840"/>
          </a:xfrm>
          <a:prstGeom prst="rect">
            <a:avLst/>
          </a:prstGeom>
          <a:noFill/>
          <a:ln/>
        </p:spPr>
        <p:txBody>
          <a:bodyPr wrap="square" lIns="0" tIns="0" rIns="0" bIns="0" rtlCol="0" anchor="ctr"/>
          <a:lstStyle/>
          <a:p>
            <a:pPr indent="0" marL="0">
              <a:buNone/>
            </a:pPr>
            <a:r>
              <a:rPr lang="en-US" sz="1250" dirty="0">
                <a:solidFill>
                  <a:srgbClr val="232634"/>
                </a:solidFill>
                <a:latin typeface="Calibri" pitchFamily="34" charset="0"/>
                <a:ea typeface="Calibri" pitchFamily="34" charset="-122"/>
                <a:cs typeface="Calibri" pitchFamily="34" charset="-120"/>
              </a:rPr>
              <a:t>Guo et al. (2017) showed that modern neural networks are often miscalibrated and introduced ECE. Desai &amp; Durrett (2020) found that Transformers calibrate poorly out of domain.</a:t>
            </a:r>
            <a:endParaRPr lang="en-US" sz="1250" dirty="0"/>
          </a:p>
        </p:txBody>
      </p:sp>
      <p:sp>
        <p:nvSpPr>
          <p:cNvPr id="14" name="Shape 10"/>
          <p:cNvSpPr/>
          <p:nvPr/>
        </p:nvSpPr>
        <p:spPr>
          <a:xfrm>
            <a:off x="640080" y="3703320"/>
            <a:ext cx="5349240" cy="1920240"/>
          </a:xfrm>
          <a:prstGeom prst="roundRect">
            <a:avLst>
              <a:gd name="adj" fmla="val 4286"/>
            </a:avLst>
          </a:prstGeom>
          <a:solidFill>
            <a:srgbClr val="F4F7FE"/>
          </a:solidFill>
          <a:ln/>
        </p:spPr>
      </p:sp>
      <p:sp>
        <p:nvSpPr>
          <p:cNvPr id="15" name="Shape 11"/>
          <p:cNvSpPr/>
          <p:nvPr/>
        </p:nvSpPr>
        <p:spPr>
          <a:xfrm>
            <a:off x="841248" y="3904488"/>
            <a:ext cx="502920" cy="502920"/>
          </a:xfrm>
          <a:prstGeom prst="ellipse">
            <a:avLst/>
          </a:prstGeom>
          <a:solidFill>
            <a:srgbClr val="CADCFC"/>
          </a:solidFill>
          <a:ln/>
        </p:spPr>
      </p:sp>
      <p:pic>
        <p:nvPicPr>
          <p:cNvPr id="16" name="Image 2" descr="preencoded.png">    </p:cNvPr>
          <p:cNvPicPr>
            <a:picLocks noChangeAspect="1"/>
          </p:cNvPicPr>
          <p:nvPr/>
        </p:nvPicPr>
        <p:blipFill>
          <a:blip r:embed="rId3"/>
          <a:stretch>
            <a:fillRect/>
          </a:stretch>
        </p:blipFill>
        <p:spPr>
          <a:xfrm>
            <a:off x="951890" y="4015130"/>
            <a:ext cx="281635" cy="281635"/>
          </a:xfrm>
          <a:prstGeom prst="rect">
            <a:avLst/>
          </a:prstGeom>
        </p:spPr>
      </p:pic>
      <p:sp>
        <p:nvSpPr>
          <p:cNvPr id="17" name="Text 12"/>
          <p:cNvSpPr/>
          <p:nvPr/>
        </p:nvSpPr>
        <p:spPr>
          <a:xfrm>
            <a:off x="1508760" y="3922776"/>
            <a:ext cx="4297680"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LLM self-report</a:t>
            </a:r>
            <a:endParaRPr lang="en-US" sz="1600" dirty="0"/>
          </a:p>
        </p:txBody>
      </p:sp>
      <p:sp>
        <p:nvSpPr>
          <p:cNvPr id="18" name="Text 13"/>
          <p:cNvSpPr/>
          <p:nvPr/>
        </p:nvSpPr>
        <p:spPr>
          <a:xfrm>
            <a:off x="896112" y="4453128"/>
            <a:ext cx="4837176" cy="1005840"/>
          </a:xfrm>
          <a:prstGeom prst="rect">
            <a:avLst/>
          </a:prstGeom>
          <a:noFill/>
          <a:ln/>
        </p:spPr>
        <p:txBody>
          <a:bodyPr wrap="square" lIns="0" tIns="0" rIns="0" bIns="0" rtlCol="0" anchor="ctr"/>
          <a:lstStyle/>
          <a:p>
            <a:pPr indent="0" marL="0">
              <a:buNone/>
            </a:pPr>
            <a:r>
              <a:rPr lang="en-US" sz="1250" dirty="0">
                <a:solidFill>
                  <a:srgbClr val="232634"/>
                </a:solidFill>
                <a:latin typeface="Calibri" pitchFamily="34" charset="0"/>
                <a:ea typeface="Calibri" pitchFamily="34" charset="-122"/>
                <a:cs typeface="Calibri" pitchFamily="34" charset="-120"/>
              </a:rPr>
              <a:t>Kadavath et al. (2022), Lin et al. (2022), and Xiong et al. (2023) showed that LLMs can state confidence in words that partially tracks accuracy. Jiang et al. (2021) found QA models are often overconfident when wrong.</a:t>
            </a:r>
            <a:endParaRPr lang="en-US" sz="1250" dirty="0"/>
          </a:p>
        </p:txBody>
      </p:sp>
      <p:sp>
        <p:nvSpPr>
          <p:cNvPr id="19" name="Shape 14"/>
          <p:cNvSpPr/>
          <p:nvPr/>
        </p:nvSpPr>
        <p:spPr>
          <a:xfrm>
            <a:off x="6172200" y="3703320"/>
            <a:ext cx="5349240" cy="1920240"/>
          </a:xfrm>
          <a:prstGeom prst="roundRect">
            <a:avLst>
              <a:gd name="adj" fmla="val 4286"/>
            </a:avLst>
          </a:prstGeom>
          <a:solidFill>
            <a:srgbClr val="F4F7FE"/>
          </a:solidFill>
          <a:ln/>
        </p:spPr>
      </p:sp>
      <p:sp>
        <p:nvSpPr>
          <p:cNvPr id="20" name="Shape 15"/>
          <p:cNvSpPr/>
          <p:nvPr/>
        </p:nvSpPr>
        <p:spPr>
          <a:xfrm>
            <a:off x="6373368" y="3904488"/>
            <a:ext cx="502920" cy="502920"/>
          </a:xfrm>
          <a:prstGeom prst="ellipse">
            <a:avLst/>
          </a:prstGeom>
          <a:solidFill>
            <a:srgbClr val="CADCFC"/>
          </a:solidFill>
          <a:ln/>
        </p:spPr>
      </p:sp>
      <p:pic>
        <p:nvPicPr>
          <p:cNvPr id="21" name="Image 3" descr="preencoded.png">    </p:cNvPr>
          <p:cNvPicPr>
            <a:picLocks noChangeAspect="1"/>
          </p:cNvPicPr>
          <p:nvPr/>
        </p:nvPicPr>
        <p:blipFill>
          <a:blip r:embed="rId4"/>
          <a:stretch>
            <a:fillRect/>
          </a:stretch>
        </p:blipFill>
        <p:spPr>
          <a:xfrm>
            <a:off x="6484010" y="4015130"/>
            <a:ext cx="281635" cy="281635"/>
          </a:xfrm>
          <a:prstGeom prst="rect">
            <a:avLst/>
          </a:prstGeom>
        </p:spPr>
      </p:pic>
      <p:sp>
        <p:nvSpPr>
          <p:cNvPr id="22" name="Text 16"/>
          <p:cNvSpPr/>
          <p:nvPr/>
        </p:nvSpPr>
        <p:spPr>
          <a:xfrm>
            <a:off x="7040880" y="3922776"/>
            <a:ext cx="4297680"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Knowing limits</a:t>
            </a:r>
            <a:endParaRPr lang="en-US" sz="1600" dirty="0"/>
          </a:p>
        </p:txBody>
      </p:sp>
      <p:sp>
        <p:nvSpPr>
          <p:cNvPr id="23" name="Text 17"/>
          <p:cNvSpPr/>
          <p:nvPr/>
        </p:nvSpPr>
        <p:spPr>
          <a:xfrm>
            <a:off x="6428232" y="4453128"/>
            <a:ext cx="4837176" cy="1005840"/>
          </a:xfrm>
          <a:prstGeom prst="rect">
            <a:avLst/>
          </a:prstGeom>
          <a:noFill/>
          <a:ln/>
        </p:spPr>
        <p:txBody>
          <a:bodyPr wrap="square" lIns="0" tIns="0" rIns="0" bIns="0" rtlCol="0" anchor="ctr"/>
          <a:lstStyle/>
          <a:p>
            <a:pPr indent="0" marL="0">
              <a:buNone/>
            </a:pPr>
            <a:r>
              <a:rPr lang="en-US" sz="1250" dirty="0">
                <a:solidFill>
                  <a:srgbClr val="232634"/>
                </a:solidFill>
                <a:latin typeface="Calibri" pitchFamily="34" charset="0"/>
                <a:ea typeface="Calibri" pitchFamily="34" charset="-122"/>
                <a:cs typeface="Calibri" pitchFamily="34" charset="-120"/>
              </a:rPr>
              <a:t>Yin et al. (2023) found LLMs are worse than humans at spotting unanswerable questions. Steyvers et al. (2025) showed people overestimate LLM accuracy. Kuhn and Farquhar (2023, 2024) proposed semantic entropy as an alternative signal.</a:t>
            </a:r>
            <a:endParaRPr lang="en-US" sz="1250" dirty="0"/>
          </a:p>
        </p:txBody>
      </p:sp>
      <p:sp>
        <p:nvSpPr>
          <p:cNvPr id="24" name="Shape 18"/>
          <p:cNvSpPr/>
          <p:nvPr/>
        </p:nvSpPr>
        <p:spPr>
          <a:xfrm>
            <a:off x="640080" y="5852160"/>
            <a:ext cx="10881360" cy="621792"/>
          </a:xfrm>
          <a:prstGeom prst="roundRect">
            <a:avLst>
              <a:gd name="adj" fmla="val 11765"/>
            </a:avLst>
          </a:prstGeom>
          <a:solidFill>
            <a:srgbClr val="1E2761"/>
          </a:solidFill>
          <a:ln/>
        </p:spPr>
      </p:sp>
      <p:sp>
        <p:nvSpPr>
          <p:cNvPr id="25" name="Text 19"/>
          <p:cNvSpPr/>
          <p:nvPr/>
        </p:nvSpPr>
        <p:spPr>
          <a:xfrm>
            <a:off x="868680" y="5852160"/>
            <a:ext cx="10515600" cy="62179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Gap:  </a:t>
            </a:r>
            <a:pPr indent="0" marL="0">
              <a:buNone/>
            </a:pPr>
            <a:r>
              <a:rPr lang="en-US" sz="1350" dirty="0">
                <a:solidFill>
                  <a:srgbClr val="CADCFC"/>
                </a:solidFill>
                <a:latin typeface="Calibri" pitchFamily="34" charset="0"/>
                <a:ea typeface="Calibri" pitchFamily="34" charset="-122"/>
                <a:cs typeface="Calibri" pitchFamily="34" charset="-120"/>
              </a:rPr>
              <a:t>little student accessible work has tested how verbal confidence changes as difficulty rises across a standard benchmark, under one locked protocol applied to several API models.</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92608"/>
          </a:xfrm>
          <a:prstGeom prst="rect">
            <a:avLst/>
          </a:prstGeom>
          <a:noFill/>
          <a:ln/>
        </p:spPr>
        <p:txBody>
          <a:bodyPr wrap="square" lIns="0" tIns="0" rIns="0" bIns="0" rtlCol="0" anchor="ctr"/>
          <a:lstStyle/>
          <a:p>
            <a:pPr indent="0" marL="0">
              <a:buNone/>
            </a:pPr>
            <a:r>
              <a:rPr lang="en-US" sz="1250" b="1" spc="300" kern="0" dirty="0">
                <a:solidFill>
                  <a:srgbClr val="F96167"/>
                </a:solidFill>
                <a:latin typeface="Calibri" pitchFamily="34" charset="0"/>
                <a:ea typeface="Calibri" pitchFamily="34" charset="-122"/>
                <a:cs typeface="Calibri" pitchFamily="34" charset="-120"/>
              </a:rPr>
              <a:t>METHOD</a:t>
            </a:r>
            <a:endParaRPr lang="en-US" sz="12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How the Study Was Run</a:t>
            </a:r>
            <a:endParaRPr lang="en-US" sz="3200" dirty="0"/>
          </a:p>
        </p:txBody>
      </p:sp>
      <p:sp>
        <p:nvSpPr>
          <p:cNvPr id="4" name="Shape 2"/>
          <p:cNvSpPr/>
          <p:nvPr/>
        </p:nvSpPr>
        <p:spPr>
          <a:xfrm>
            <a:off x="640080" y="1645920"/>
            <a:ext cx="548640" cy="548640"/>
          </a:xfrm>
          <a:prstGeom prst="ellipse">
            <a:avLst/>
          </a:prstGeom>
          <a:solidFill>
            <a:srgbClr val="1E2761"/>
          </a:solidFill>
          <a:ln/>
        </p:spPr>
      </p:sp>
      <p:pic>
        <p:nvPicPr>
          <p:cNvPr id="5" name="Image 0" descr="preencoded.png">    </p:cNvPr>
          <p:cNvPicPr>
            <a:picLocks noChangeAspect="1"/>
          </p:cNvPicPr>
          <p:nvPr/>
        </p:nvPicPr>
        <p:blipFill>
          <a:blip r:embed="rId1"/>
          <a:stretch>
            <a:fillRect/>
          </a:stretch>
        </p:blipFill>
        <p:spPr>
          <a:xfrm>
            <a:off x="760781" y="1766621"/>
            <a:ext cx="307238" cy="307238"/>
          </a:xfrm>
          <a:prstGeom prst="rect">
            <a:avLst/>
          </a:prstGeom>
        </p:spPr>
      </p:pic>
      <p:sp>
        <p:nvSpPr>
          <p:cNvPr id="6" name="Text 3"/>
          <p:cNvSpPr/>
          <p:nvPr/>
        </p:nvSpPr>
        <p:spPr>
          <a:xfrm>
            <a:off x="1371600" y="1600200"/>
            <a:ext cx="6126480" cy="320040"/>
          </a:xfrm>
          <a:prstGeom prst="rect">
            <a:avLst/>
          </a:prstGeom>
          <a:noFill/>
          <a:ln/>
        </p:spPr>
        <p:txBody>
          <a:bodyPr wrap="square" lIns="0" tIns="0" rIns="0" bIns="0" rtlCol="0" anchor="ctr"/>
          <a:lstStyle/>
          <a:p>
            <a:pPr indent="0" marL="0">
              <a:buNone/>
            </a:pPr>
            <a:r>
              <a:rPr lang="en-US" sz="1550" b="1" dirty="0">
                <a:solidFill>
                  <a:srgbClr val="232634"/>
                </a:solidFill>
                <a:latin typeface="Calibri" pitchFamily="34" charset="0"/>
                <a:ea typeface="Calibri" pitchFamily="34" charset="-122"/>
                <a:cs typeface="Calibri" pitchFamily="34" charset="-120"/>
              </a:rPr>
              <a:t>Question bank</a:t>
            </a:r>
            <a:endParaRPr lang="en-US" sz="1550" dirty="0"/>
          </a:p>
        </p:txBody>
      </p:sp>
      <p:sp>
        <p:nvSpPr>
          <p:cNvPr id="7" name="Text 4"/>
          <p:cNvSpPr/>
          <p:nvPr/>
        </p:nvSpPr>
        <p:spPr>
          <a:xfrm>
            <a:off x="1371600" y="1920240"/>
            <a:ext cx="6126480" cy="914400"/>
          </a:xfrm>
          <a:prstGeom prst="rect">
            <a:avLst/>
          </a:prstGeom>
          <a:noFill/>
          <a:ln/>
        </p:spPr>
        <p:txBody>
          <a:bodyPr wrap="square" lIns="0" tIns="0" rIns="0" bIns="0" rtlCol="0" anchor="ctr"/>
          <a:lstStyle/>
          <a:p>
            <a:pPr indent="0" marL="0">
              <a:buNone/>
            </a:pPr>
            <a:r>
              <a:rPr lang="en-US" sz="1200" dirty="0">
                <a:solidFill>
                  <a:srgbClr val="5A6178"/>
                </a:solidFill>
                <a:latin typeface="Calibri" pitchFamily="34" charset="0"/>
                <a:ea typeface="Calibri" pitchFamily="34" charset="-122"/>
                <a:cs typeface="Calibri" pitchFamily="34" charset="-120"/>
              </a:rPr>
              <a:t>540 MMLU multiple choice items (180 frozen plus a 360 item supplement) covering STEM, Social Sciences, and Humanities, with easy, medium, and hard tiers fixed before evaluation.</a:t>
            </a:r>
            <a:endParaRPr lang="en-US" sz="1200" dirty="0"/>
          </a:p>
        </p:txBody>
      </p:sp>
      <p:sp>
        <p:nvSpPr>
          <p:cNvPr id="8" name="Shape 5"/>
          <p:cNvSpPr/>
          <p:nvPr/>
        </p:nvSpPr>
        <p:spPr>
          <a:xfrm>
            <a:off x="905256" y="2249424"/>
            <a:ext cx="0" cy="658368"/>
          </a:xfrm>
          <a:prstGeom prst="line">
            <a:avLst/>
          </a:prstGeom>
          <a:noFill/>
          <a:ln w="25400">
            <a:solidFill>
              <a:srgbClr val="CADCFC"/>
            </a:solidFill>
            <a:prstDash val="solid"/>
          </a:ln>
        </p:spPr>
      </p:sp>
      <p:sp>
        <p:nvSpPr>
          <p:cNvPr id="9" name="Shape 6"/>
          <p:cNvSpPr/>
          <p:nvPr/>
        </p:nvSpPr>
        <p:spPr>
          <a:xfrm>
            <a:off x="640080" y="2907792"/>
            <a:ext cx="548640" cy="548640"/>
          </a:xfrm>
          <a:prstGeom prst="ellipse">
            <a:avLst/>
          </a:prstGeom>
          <a:solidFill>
            <a:srgbClr val="1E2761"/>
          </a:solidFill>
          <a:ln/>
        </p:spPr>
      </p:sp>
      <p:pic>
        <p:nvPicPr>
          <p:cNvPr id="10" name="Image 1" descr="preencoded.png">    </p:cNvPr>
          <p:cNvPicPr>
            <a:picLocks noChangeAspect="1"/>
          </p:cNvPicPr>
          <p:nvPr/>
        </p:nvPicPr>
        <p:blipFill>
          <a:blip r:embed="rId2"/>
          <a:stretch>
            <a:fillRect/>
          </a:stretch>
        </p:blipFill>
        <p:spPr>
          <a:xfrm>
            <a:off x="760781" y="3028493"/>
            <a:ext cx="307238" cy="307238"/>
          </a:xfrm>
          <a:prstGeom prst="rect">
            <a:avLst/>
          </a:prstGeom>
        </p:spPr>
      </p:pic>
      <p:sp>
        <p:nvSpPr>
          <p:cNvPr id="11" name="Text 7"/>
          <p:cNvSpPr/>
          <p:nvPr/>
        </p:nvSpPr>
        <p:spPr>
          <a:xfrm>
            <a:off x="1371600" y="2862072"/>
            <a:ext cx="6126480" cy="320040"/>
          </a:xfrm>
          <a:prstGeom prst="rect">
            <a:avLst/>
          </a:prstGeom>
          <a:noFill/>
          <a:ln/>
        </p:spPr>
        <p:txBody>
          <a:bodyPr wrap="square" lIns="0" tIns="0" rIns="0" bIns="0" rtlCol="0" anchor="ctr"/>
          <a:lstStyle/>
          <a:p>
            <a:pPr indent="0" marL="0">
              <a:buNone/>
            </a:pPr>
            <a:r>
              <a:rPr lang="en-US" sz="1550" b="1" dirty="0">
                <a:solidFill>
                  <a:srgbClr val="232634"/>
                </a:solidFill>
                <a:latin typeface="Calibri" pitchFamily="34" charset="0"/>
                <a:ea typeface="Calibri" pitchFamily="34" charset="-122"/>
                <a:cs typeface="Calibri" pitchFamily="34" charset="-120"/>
              </a:rPr>
              <a:t>Matched inference</a:t>
            </a:r>
            <a:endParaRPr lang="en-US" sz="1550" dirty="0"/>
          </a:p>
        </p:txBody>
      </p:sp>
      <p:sp>
        <p:nvSpPr>
          <p:cNvPr id="12" name="Text 8"/>
          <p:cNvSpPr/>
          <p:nvPr/>
        </p:nvSpPr>
        <p:spPr>
          <a:xfrm>
            <a:off x="1371600" y="3182112"/>
            <a:ext cx="6126480" cy="914400"/>
          </a:xfrm>
          <a:prstGeom prst="rect">
            <a:avLst/>
          </a:prstGeom>
          <a:noFill/>
          <a:ln/>
        </p:spPr>
        <p:txBody>
          <a:bodyPr wrap="square" lIns="0" tIns="0" rIns="0" bIns="0" rtlCol="0" anchor="ctr"/>
          <a:lstStyle/>
          <a:p>
            <a:pPr indent="0" marL="0">
              <a:buNone/>
            </a:pPr>
            <a:r>
              <a:rPr lang="en-US" sz="1200" dirty="0">
                <a:solidFill>
                  <a:srgbClr val="5A6178"/>
                </a:solidFill>
                <a:latin typeface="Calibri" pitchFamily="34" charset="0"/>
                <a:ea typeface="Calibri" pitchFamily="34" charset="-122"/>
                <a:cs typeface="Calibri" pitchFamily="34" charset="-120"/>
              </a:rPr>
              <a:t>3 API models, 5 trials per question, temperature 0.3, max 1,024 tokens, for 8,100 total responses. Every call used one locked prompt asking for ANSWER (A to D) and CONFIDENCE (0 to 100). With format repair retries, 100% of responses parsed.</a:t>
            </a:r>
            <a:endParaRPr lang="en-US" sz="1200" dirty="0"/>
          </a:p>
        </p:txBody>
      </p:sp>
      <p:sp>
        <p:nvSpPr>
          <p:cNvPr id="13" name="Shape 9"/>
          <p:cNvSpPr/>
          <p:nvPr/>
        </p:nvSpPr>
        <p:spPr>
          <a:xfrm>
            <a:off x="905256" y="3511296"/>
            <a:ext cx="0" cy="658368"/>
          </a:xfrm>
          <a:prstGeom prst="line">
            <a:avLst/>
          </a:prstGeom>
          <a:noFill/>
          <a:ln w="25400">
            <a:solidFill>
              <a:srgbClr val="CADCFC"/>
            </a:solidFill>
            <a:prstDash val="solid"/>
          </a:ln>
        </p:spPr>
      </p:sp>
      <p:sp>
        <p:nvSpPr>
          <p:cNvPr id="14" name="Shape 10"/>
          <p:cNvSpPr/>
          <p:nvPr/>
        </p:nvSpPr>
        <p:spPr>
          <a:xfrm>
            <a:off x="640080" y="4169664"/>
            <a:ext cx="548640" cy="548640"/>
          </a:xfrm>
          <a:prstGeom prst="ellipse">
            <a:avLst/>
          </a:prstGeom>
          <a:solidFill>
            <a:srgbClr val="1E2761"/>
          </a:solidFill>
          <a:ln/>
        </p:spPr>
      </p:sp>
      <p:pic>
        <p:nvPicPr>
          <p:cNvPr id="15" name="Image 2" descr="preencoded.png">    </p:cNvPr>
          <p:cNvPicPr>
            <a:picLocks noChangeAspect="1"/>
          </p:cNvPicPr>
          <p:nvPr/>
        </p:nvPicPr>
        <p:blipFill>
          <a:blip r:embed="rId3"/>
          <a:stretch>
            <a:fillRect/>
          </a:stretch>
        </p:blipFill>
        <p:spPr>
          <a:xfrm>
            <a:off x="760781" y="4290365"/>
            <a:ext cx="307238" cy="307238"/>
          </a:xfrm>
          <a:prstGeom prst="rect">
            <a:avLst/>
          </a:prstGeom>
        </p:spPr>
      </p:pic>
      <p:sp>
        <p:nvSpPr>
          <p:cNvPr id="16" name="Text 11"/>
          <p:cNvSpPr/>
          <p:nvPr/>
        </p:nvSpPr>
        <p:spPr>
          <a:xfrm>
            <a:off x="1371600" y="4123944"/>
            <a:ext cx="6126480" cy="320040"/>
          </a:xfrm>
          <a:prstGeom prst="rect">
            <a:avLst/>
          </a:prstGeom>
          <a:noFill/>
          <a:ln/>
        </p:spPr>
        <p:txBody>
          <a:bodyPr wrap="square" lIns="0" tIns="0" rIns="0" bIns="0" rtlCol="0" anchor="ctr"/>
          <a:lstStyle/>
          <a:p>
            <a:pPr indent="0" marL="0">
              <a:buNone/>
            </a:pPr>
            <a:r>
              <a:rPr lang="en-US" sz="1550" b="1" dirty="0">
                <a:solidFill>
                  <a:srgbClr val="232634"/>
                </a:solidFill>
                <a:latin typeface="Calibri" pitchFamily="34" charset="0"/>
                <a:ea typeface="Calibri" pitchFamily="34" charset="-122"/>
                <a:cs typeface="Calibri" pitchFamily="34" charset="-120"/>
              </a:rPr>
              <a:t>Metrics</a:t>
            </a:r>
            <a:endParaRPr lang="en-US" sz="1550" dirty="0"/>
          </a:p>
        </p:txBody>
      </p:sp>
      <p:sp>
        <p:nvSpPr>
          <p:cNvPr id="17" name="Text 12"/>
          <p:cNvSpPr/>
          <p:nvPr/>
        </p:nvSpPr>
        <p:spPr>
          <a:xfrm>
            <a:off x="1371600" y="4443984"/>
            <a:ext cx="6126480" cy="914400"/>
          </a:xfrm>
          <a:prstGeom prst="rect">
            <a:avLst/>
          </a:prstGeom>
          <a:noFill/>
          <a:ln/>
        </p:spPr>
        <p:txBody>
          <a:bodyPr wrap="square" lIns="0" tIns="0" rIns="0" bIns="0" rtlCol="0" anchor="ctr"/>
          <a:lstStyle/>
          <a:p>
            <a:pPr indent="0" marL="0">
              <a:buNone/>
            </a:pPr>
            <a:r>
              <a:rPr lang="en-US" sz="1200" dirty="0">
                <a:solidFill>
                  <a:srgbClr val="5A6178"/>
                </a:solidFill>
                <a:latin typeface="Calibri" pitchFamily="34" charset="0"/>
                <a:ea typeface="Calibri" pitchFamily="34" charset="-122"/>
                <a:cs typeface="Calibri" pitchFamily="34" charset="-120"/>
              </a:rPr>
              <a:t>Accuracy, overconfidence gap (confidence minus accuracy), ECE with 10 bins, and bootstrap 95% confidence intervals from 2,000 resamples.</a:t>
            </a:r>
            <a:endParaRPr lang="en-US" sz="1200" dirty="0"/>
          </a:p>
        </p:txBody>
      </p:sp>
      <p:sp>
        <p:nvSpPr>
          <p:cNvPr id="18" name="Shape 13"/>
          <p:cNvSpPr/>
          <p:nvPr/>
        </p:nvSpPr>
        <p:spPr>
          <a:xfrm>
            <a:off x="905256" y="4773168"/>
            <a:ext cx="0" cy="658368"/>
          </a:xfrm>
          <a:prstGeom prst="line">
            <a:avLst/>
          </a:prstGeom>
          <a:noFill/>
          <a:ln w="25400">
            <a:solidFill>
              <a:srgbClr val="CADCFC"/>
            </a:solidFill>
            <a:prstDash val="solid"/>
          </a:ln>
        </p:spPr>
      </p:sp>
      <p:sp>
        <p:nvSpPr>
          <p:cNvPr id="19" name="Shape 14"/>
          <p:cNvSpPr/>
          <p:nvPr/>
        </p:nvSpPr>
        <p:spPr>
          <a:xfrm>
            <a:off x="640080" y="5431536"/>
            <a:ext cx="548640" cy="548640"/>
          </a:xfrm>
          <a:prstGeom prst="ellipse">
            <a:avLst/>
          </a:prstGeom>
          <a:solidFill>
            <a:srgbClr val="1E2761"/>
          </a:solidFill>
          <a:ln/>
        </p:spPr>
      </p:sp>
      <p:pic>
        <p:nvPicPr>
          <p:cNvPr id="20" name="Image 3" descr="preencoded.png">    </p:cNvPr>
          <p:cNvPicPr>
            <a:picLocks noChangeAspect="1"/>
          </p:cNvPicPr>
          <p:nvPr/>
        </p:nvPicPr>
        <p:blipFill>
          <a:blip r:embed="rId4"/>
          <a:stretch>
            <a:fillRect/>
          </a:stretch>
        </p:blipFill>
        <p:spPr>
          <a:xfrm>
            <a:off x="760781" y="5552237"/>
            <a:ext cx="307238" cy="307238"/>
          </a:xfrm>
          <a:prstGeom prst="rect">
            <a:avLst/>
          </a:prstGeom>
        </p:spPr>
      </p:pic>
      <p:sp>
        <p:nvSpPr>
          <p:cNvPr id="21" name="Text 15"/>
          <p:cNvSpPr/>
          <p:nvPr/>
        </p:nvSpPr>
        <p:spPr>
          <a:xfrm>
            <a:off x="1371600" y="5385816"/>
            <a:ext cx="6126480" cy="320040"/>
          </a:xfrm>
          <a:prstGeom prst="rect">
            <a:avLst/>
          </a:prstGeom>
          <a:noFill/>
          <a:ln/>
        </p:spPr>
        <p:txBody>
          <a:bodyPr wrap="square" lIns="0" tIns="0" rIns="0" bIns="0" rtlCol="0" anchor="ctr"/>
          <a:lstStyle/>
          <a:p>
            <a:pPr indent="0" marL="0">
              <a:buNone/>
            </a:pPr>
            <a:r>
              <a:rPr lang="en-US" sz="1550" b="1" dirty="0">
                <a:solidFill>
                  <a:srgbClr val="232634"/>
                </a:solidFill>
                <a:latin typeface="Calibri" pitchFamily="34" charset="0"/>
                <a:ea typeface="Calibri" pitchFamily="34" charset="-122"/>
                <a:cs typeface="Calibri" pitchFamily="34" charset="-120"/>
              </a:rPr>
              <a:t>Statistics</a:t>
            </a:r>
            <a:endParaRPr lang="en-US" sz="1550" dirty="0"/>
          </a:p>
        </p:txBody>
      </p:sp>
      <p:sp>
        <p:nvSpPr>
          <p:cNvPr id="22" name="Text 16"/>
          <p:cNvSpPr/>
          <p:nvPr/>
        </p:nvSpPr>
        <p:spPr>
          <a:xfrm>
            <a:off x="1371600" y="5705856"/>
            <a:ext cx="6126480" cy="914400"/>
          </a:xfrm>
          <a:prstGeom prst="rect">
            <a:avLst/>
          </a:prstGeom>
          <a:noFill/>
          <a:ln/>
        </p:spPr>
        <p:txBody>
          <a:bodyPr wrap="square" lIns="0" tIns="0" rIns="0" bIns="0" rtlCol="0" anchor="ctr"/>
          <a:lstStyle/>
          <a:p>
            <a:pPr indent="0" marL="0">
              <a:buNone/>
            </a:pPr>
            <a:r>
              <a:rPr lang="en-US" sz="1200" dirty="0">
                <a:solidFill>
                  <a:srgbClr val="5A6178"/>
                </a:solidFill>
                <a:latin typeface="Calibri" pitchFamily="34" charset="0"/>
                <a:ea typeface="Calibri" pitchFamily="34" charset="-122"/>
                <a:cs typeface="Calibri" pitchFamily="34" charset="-120"/>
              </a:rPr>
              <a:t>Response level regression of the gap on difficulty, with six predeclared tests corrected using the Holm Bonferroni method. Answer token log probabilities were also collected for GPT-4o-mini.</a:t>
            </a:r>
            <a:endParaRPr lang="en-US" sz="1200" dirty="0"/>
          </a:p>
        </p:txBody>
      </p:sp>
      <p:sp>
        <p:nvSpPr>
          <p:cNvPr id="23" name="Shape 17"/>
          <p:cNvSpPr/>
          <p:nvPr/>
        </p:nvSpPr>
        <p:spPr>
          <a:xfrm>
            <a:off x="7863840" y="1645920"/>
            <a:ext cx="3657600" cy="4800600"/>
          </a:xfrm>
          <a:prstGeom prst="roundRect">
            <a:avLst>
              <a:gd name="adj" fmla="val 2250"/>
            </a:avLst>
          </a:prstGeom>
          <a:solidFill>
            <a:srgbClr val="1E2761"/>
          </a:solidFill>
          <a:ln/>
        </p:spPr>
      </p:sp>
      <p:sp>
        <p:nvSpPr>
          <p:cNvPr id="24" name="Text 18"/>
          <p:cNvSpPr/>
          <p:nvPr/>
        </p:nvSpPr>
        <p:spPr>
          <a:xfrm>
            <a:off x="8138160" y="1874520"/>
            <a:ext cx="3108960" cy="320040"/>
          </a:xfrm>
          <a:prstGeom prst="rect">
            <a:avLst/>
          </a:prstGeom>
          <a:noFill/>
          <a:ln/>
        </p:spPr>
        <p:txBody>
          <a:bodyPr wrap="square" lIns="0" tIns="0" rIns="0" bIns="0" rtlCol="0" anchor="ctr"/>
          <a:lstStyle/>
          <a:p>
            <a:pPr indent="0" marL="0">
              <a:buNone/>
            </a:pPr>
            <a:r>
              <a:rPr lang="en-US" sz="1250" b="1" spc="200" kern="0" dirty="0">
                <a:solidFill>
                  <a:srgbClr val="CADCFC"/>
                </a:solidFill>
                <a:latin typeface="Calibri" pitchFamily="34" charset="0"/>
                <a:ea typeface="Calibri" pitchFamily="34" charset="-122"/>
                <a:cs typeface="Calibri" pitchFamily="34" charset="-120"/>
              </a:rPr>
              <a:t>MODELS EVALUATED</a:t>
            </a:r>
            <a:endParaRPr lang="en-US" sz="1250" dirty="0"/>
          </a:p>
        </p:txBody>
      </p:sp>
      <p:sp>
        <p:nvSpPr>
          <p:cNvPr id="25" name="Shape 19"/>
          <p:cNvSpPr/>
          <p:nvPr/>
        </p:nvSpPr>
        <p:spPr>
          <a:xfrm>
            <a:off x="8138160" y="2331720"/>
            <a:ext cx="3108960" cy="1170432"/>
          </a:xfrm>
          <a:prstGeom prst="roundRect">
            <a:avLst>
              <a:gd name="adj" fmla="val 5469"/>
            </a:avLst>
          </a:prstGeom>
          <a:solidFill>
            <a:srgbClr val="2A3577"/>
          </a:solidFill>
          <a:ln/>
        </p:spPr>
      </p:sp>
      <p:sp>
        <p:nvSpPr>
          <p:cNvPr id="26" name="Text 20"/>
          <p:cNvSpPr/>
          <p:nvPr/>
        </p:nvSpPr>
        <p:spPr>
          <a:xfrm>
            <a:off x="8339328" y="2459736"/>
            <a:ext cx="2743200" cy="3200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Claude Haiku</a:t>
            </a:r>
            <a:endParaRPr lang="en-US" sz="1450" dirty="0"/>
          </a:p>
        </p:txBody>
      </p:sp>
      <p:sp>
        <p:nvSpPr>
          <p:cNvPr id="27" name="Text 21"/>
          <p:cNvSpPr/>
          <p:nvPr/>
        </p:nvSpPr>
        <p:spPr>
          <a:xfrm>
            <a:off x="8339328" y="2788920"/>
            <a:ext cx="2743200" cy="59436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Anthropic API</a:t>
            </a:r>
            <a:endParaRPr lang="en-US" sz="1100" dirty="0"/>
          </a:p>
          <a:p>
            <a:pPr indent="0" marL="0">
              <a:buNone/>
            </a:pPr>
            <a:r>
              <a:rPr lang="en-US" sz="1100" dirty="0">
                <a:solidFill>
                  <a:srgbClr val="CADCFC"/>
                </a:solidFill>
                <a:latin typeface="Calibri" pitchFamily="34" charset="0"/>
                <a:ea typeface="Calibri" pitchFamily="34" charset="-122"/>
                <a:cs typeface="Calibri" pitchFamily="34" charset="-120"/>
              </a:rPr>
              <a:t>claude-haiku-4-5</a:t>
            </a:r>
            <a:endParaRPr lang="en-US" sz="1100" dirty="0"/>
          </a:p>
        </p:txBody>
      </p:sp>
      <p:sp>
        <p:nvSpPr>
          <p:cNvPr id="28" name="Shape 22"/>
          <p:cNvSpPr/>
          <p:nvPr/>
        </p:nvSpPr>
        <p:spPr>
          <a:xfrm>
            <a:off x="8138160" y="3666744"/>
            <a:ext cx="3108960" cy="1170432"/>
          </a:xfrm>
          <a:prstGeom prst="roundRect">
            <a:avLst>
              <a:gd name="adj" fmla="val 5469"/>
            </a:avLst>
          </a:prstGeom>
          <a:solidFill>
            <a:srgbClr val="2A3577"/>
          </a:solidFill>
          <a:ln/>
        </p:spPr>
      </p:sp>
      <p:sp>
        <p:nvSpPr>
          <p:cNvPr id="29" name="Text 23"/>
          <p:cNvSpPr/>
          <p:nvPr/>
        </p:nvSpPr>
        <p:spPr>
          <a:xfrm>
            <a:off x="8339328" y="3794760"/>
            <a:ext cx="2743200" cy="3200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GPT-4o-mini</a:t>
            </a:r>
            <a:endParaRPr lang="en-US" sz="1450" dirty="0"/>
          </a:p>
        </p:txBody>
      </p:sp>
      <p:sp>
        <p:nvSpPr>
          <p:cNvPr id="30" name="Text 24"/>
          <p:cNvSpPr/>
          <p:nvPr/>
        </p:nvSpPr>
        <p:spPr>
          <a:xfrm>
            <a:off x="8339328" y="4123944"/>
            <a:ext cx="2743200" cy="59436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OpenAI API</a:t>
            </a:r>
            <a:endParaRPr lang="en-US" sz="1100" dirty="0"/>
          </a:p>
          <a:p>
            <a:pPr indent="0" marL="0">
              <a:buNone/>
            </a:pPr>
            <a:r>
              <a:rPr lang="en-US" sz="1100" dirty="0">
                <a:solidFill>
                  <a:srgbClr val="CADCFC"/>
                </a:solidFill>
                <a:latin typeface="Calibri" pitchFamily="34" charset="0"/>
                <a:ea typeface="Calibri" pitchFamily="34" charset="-122"/>
                <a:cs typeface="Calibri" pitchFamily="34" charset="-120"/>
              </a:rPr>
              <a:t>gpt-4o-mini</a:t>
            </a:r>
            <a:endParaRPr lang="en-US" sz="1100" dirty="0"/>
          </a:p>
        </p:txBody>
      </p:sp>
      <p:sp>
        <p:nvSpPr>
          <p:cNvPr id="31" name="Shape 25"/>
          <p:cNvSpPr/>
          <p:nvPr/>
        </p:nvSpPr>
        <p:spPr>
          <a:xfrm>
            <a:off x="8138160" y="5001768"/>
            <a:ext cx="3108960" cy="1170432"/>
          </a:xfrm>
          <a:prstGeom prst="roundRect">
            <a:avLst>
              <a:gd name="adj" fmla="val 5469"/>
            </a:avLst>
          </a:prstGeom>
          <a:solidFill>
            <a:srgbClr val="2A3577"/>
          </a:solidFill>
          <a:ln/>
        </p:spPr>
      </p:sp>
      <p:sp>
        <p:nvSpPr>
          <p:cNvPr id="32" name="Text 26"/>
          <p:cNvSpPr/>
          <p:nvPr/>
        </p:nvSpPr>
        <p:spPr>
          <a:xfrm>
            <a:off x="8339328" y="5129784"/>
            <a:ext cx="2743200" cy="3200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Gemini 3.1 Flash-Lite</a:t>
            </a:r>
            <a:endParaRPr lang="en-US" sz="1450" dirty="0"/>
          </a:p>
        </p:txBody>
      </p:sp>
      <p:sp>
        <p:nvSpPr>
          <p:cNvPr id="33" name="Text 27"/>
          <p:cNvSpPr/>
          <p:nvPr/>
        </p:nvSpPr>
        <p:spPr>
          <a:xfrm>
            <a:off x="8339328" y="5458968"/>
            <a:ext cx="2743200" cy="59436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Google Gemini API</a:t>
            </a:r>
            <a:endParaRPr lang="en-US" sz="1100" dirty="0"/>
          </a:p>
          <a:p>
            <a:pPr indent="0" marL="0">
              <a:buNone/>
            </a:pPr>
            <a:r>
              <a:rPr lang="en-US" sz="1100" dirty="0">
                <a:solidFill>
                  <a:srgbClr val="CADCFC"/>
                </a:solidFill>
                <a:latin typeface="Calibri" pitchFamily="34" charset="0"/>
                <a:ea typeface="Calibri" pitchFamily="34" charset="-122"/>
                <a:cs typeface="Calibri" pitchFamily="34" charset="-120"/>
              </a:rPr>
              <a:t>gemini-3.1-flash-lite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92608"/>
          </a:xfrm>
          <a:prstGeom prst="rect">
            <a:avLst/>
          </a:prstGeom>
          <a:noFill/>
          <a:ln/>
        </p:spPr>
        <p:txBody>
          <a:bodyPr wrap="square" lIns="0" tIns="0" rIns="0" bIns="0" rtlCol="0" anchor="ctr"/>
          <a:lstStyle/>
          <a:p>
            <a:pPr indent="0" marL="0">
              <a:buNone/>
            </a:pPr>
            <a:r>
              <a:rPr lang="en-US" sz="1250" b="1" spc="300" kern="0" dirty="0">
                <a:solidFill>
                  <a:srgbClr val="F96167"/>
                </a:solidFill>
                <a:latin typeface="Calibri" pitchFamily="34" charset="0"/>
                <a:ea typeface="Calibri" pitchFamily="34" charset="-122"/>
                <a:cs typeface="Calibri" pitchFamily="34" charset="-120"/>
              </a:rPr>
              <a:t>RESULTS &amp; FINDINGS</a:t>
            </a:r>
            <a:endParaRPr lang="en-US" sz="12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Overconfidence Grows with Difficulty in All Three Models</a:t>
            </a:r>
            <a:endParaRPr lang="en-US" sz="3200" dirty="0"/>
          </a:p>
        </p:txBody>
      </p:sp>
      <p:graphicFrame>
        <p:nvGraphicFramePr>
          <p:cNvPr id="4" name="Chart 0" descr=""/>
          <p:cNvGraphicFramePr/>
          <p:nvPr/>
        </p:nvGraphicFramePr>
        <p:xfrm>
          <a:off x="640080" y="1645920"/>
          <a:ext cx="6675120" cy="42062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640080" y="5943600"/>
            <a:ext cx="6675120" cy="502920"/>
          </a:xfrm>
          <a:prstGeom prst="rect">
            <a:avLst/>
          </a:prstGeom>
          <a:noFill/>
          <a:ln/>
        </p:spPr>
        <p:txBody>
          <a:bodyPr wrap="square" lIns="0" tIns="0" rIns="0" bIns="0" rtlCol="0" anchor="ctr"/>
          <a:lstStyle/>
          <a:p>
            <a:pPr algn="ctr" indent="0" marL="0">
              <a:buNone/>
            </a:pPr>
            <a:r>
              <a:rPr lang="en-US" sz="1050" i="1" dirty="0">
                <a:solidFill>
                  <a:srgbClr val="5A6178"/>
                </a:solidFill>
                <a:latin typeface="Calibri" pitchFamily="34" charset="0"/>
                <a:ea typeface="Calibri" pitchFamily="34" charset="-122"/>
                <a:cs typeface="Calibri" pitchFamily="34" charset="-120"/>
              </a:rPr>
              <a:t>A positive gap means overconfident and a negative gap means underconfident. Each point averages 900 responses.</a:t>
            </a:r>
            <a:endParaRPr lang="en-US" sz="1050" dirty="0"/>
          </a:p>
        </p:txBody>
      </p:sp>
      <p:sp>
        <p:nvSpPr>
          <p:cNvPr id="6" name="Shape 3"/>
          <p:cNvSpPr/>
          <p:nvPr/>
        </p:nvSpPr>
        <p:spPr>
          <a:xfrm>
            <a:off x="7726680" y="1645920"/>
            <a:ext cx="3794760" cy="1417320"/>
          </a:xfrm>
          <a:prstGeom prst="roundRect">
            <a:avLst>
              <a:gd name="adj" fmla="val 5161"/>
            </a:avLst>
          </a:prstGeom>
          <a:solidFill>
            <a:srgbClr val="F4F7FE"/>
          </a:solidFill>
          <a:ln/>
        </p:spPr>
      </p:sp>
      <p:sp>
        <p:nvSpPr>
          <p:cNvPr id="7" name="Text 4"/>
          <p:cNvSpPr/>
          <p:nvPr/>
        </p:nvSpPr>
        <p:spPr>
          <a:xfrm>
            <a:off x="7955280" y="1737360"/>
            <a:ext cx="3337560" cy="548640"/>
          </a:xfrm>
          <a:prstGeom prst="rect">
            <a:avLst/>
          </a:prstGeom>
          <a:noFill/>
          <a:ln/>
        </p:spPr>
        <p:txBody>
          <a:bodyPr wrap="square" lIns="0" tIns="0" rIns="0" bIns="0" rtlCol="0" anchor="ctr"/>
          <a:lstStyle/>
          <a:p>
            <a:pPr indent="0" marL="0">
              <a:buNone/>
            </a:pPr>
            <a:r>
              <a:rPr lang="en-US" sz="3000" b="1" dirty="0">
                <a:solidFill>
                  <a:srgbClr val="F96167"/>
                </a:solidFill>
                <a:latin typeface="Cambria" pitchFamily="34" charset="0"/>
                <a:ea typeface="Cambria" pitchFamily="34" charset="-122"/>
                <a:cs typeface="Cambria" pitchFamily="34" charset="-120"/>
              </a:rPr>
              <a:t>0.354</a:t>
            </a:r>
            <a:endParaRPr lang="en-US" sz="3000" dirty="0"/>
          </a:p>
        </p:txBody>
      </p:sp>
      <p:sp>
        <p:nvSpPr>
          <p:cNvPr id="8" name="Text 5"/>
          <p:cNvSpPr/>
          <p:nvPr/>
        </p:nvSpPr>
        <p:spPr>
          <a:xfrm>
            <a:off x="7955280" y="2286000"/>
            <a:ext cx="3337560" cy="731520"/>
          </a:xfrm>
          <a:prstGeom prst="rect">
            <a:avLst/>
          </a:prstGeom>
          <a:noFill/>
          <a:ln/>
        </p:spPr>
        <p:txBody>
          <a:bodyPr wrap="square" lIns="0" tIns="0" rIns="0" bIns="0" rtlCol="0" anchor="ctr"/>
          <a:lstStyle/>
          <a:p>
            <a:pPr indent="0" marL="0">
              <a:buNone/>
            </a:pPr>
            <a:r>
              <a:rPr lang="en-US" sz="1100" dirty="0">
                <a:solidFill>
                  <a:srgbClr val="232634"/>
                </a:solidFill>
                <a:latin typeface="Calibri" pitchFamily="34" charset="0"/>
                <a:ea typeface="Calibri" pitchFamily="34" charset="-122"/>
                <a:cs typeface="Calibri" pitchFamily="34" charset="-120"/>
              </a:rPr>
              <a:t>GPT-4o-mini's gap on hard items. Accuracy falls to 51.4% while stated confidence stays near 87.</a:t>
            </a:r>
            <a:endParaRPr lang="en-US" sz="1100" dirty="0"/>
          </a:p>
        </p:txBody>
      </p:sp>
      <p:sp>
        <p:nvSpPr>
          <p:cNvPr id="9" name="Shape 6"/>
          <p:cNvSpPr/>
          <p:nvPr/>
        </p:nvSpPr>
        <p:spPr>
          <a:xfrm>
            <a:off x="7726680" y="3218688"/>
            <a:ext cx="3794760" cy="1417320"/>
          </a:xfrm>
          <a:prstGeom prst="roundRect">
            <a:avLst>
              <a:gd name="adj" fmla="val 5161"/>
            </a:avLst>
          </a:prstGeom>
          <a:solidFill>
            <a:srgbClr val="F4F7FE"/>
          </a:solidFill>
          <a:ln/>
        </p:spPr>
      </p:sp>
      <p:sp>
        <p:nvSpPr>
          <p:cNvPr id="10" name="Text 7"/>
          <p:cNvSpPr/>
          <p:nvPr/>
        </p:nvSpPr>
        <p:spPr>
          <a:xfrm>
            <a:off x="7955280" y="3310128"/>
            <a:ext cx="3337560" cy="548640"/>
          </a:xfrm>
          <a:prstGeom prst="rect">
            <a:avLst/>
          </a:prstGeom>
          <a:noFill/>
          <a:ln/>
        </p:spPr>
        <p:txBody>
          <a:bodyPr wrap="square" lIns="0" tIns="0" rIns="0" bIns="0" rtlCol="0" anchor="ctr"/>
          <a:lstStyle/>
          <a:p>
            <a:pPr indent="0" marL="0">
              <a:buNone/>
            </a:pPr>
            <a:r>
              <a:rPr lang="en-US" sz="3000" b="1" dirty="0">
                <a:solidFill>
                  <a:srgbClr val="B8860B"/>
                </a:solidFill>
                <a:latin typeface="Cambria" pitchFamily="34" charset="0"/>
                <a:ea typeface="Cambria" pitchFamily="34" charset="-122"/>
                <a:cs typeface="Cambria" pitchFamily="34" charset="-120"/>
              </a:rPr>
              <a:t>95.6%</a:t>
            </a:r>
            <a:endParaRPr lang="en-US" sz="3000" dirty="0"/>
          </a:p>
        </p:txBody>
      </p:sp>
      <p:sp>
        <p:nvSpPr>
          <p:cNvPr id="11" name="Text 8"/>
          <p:cNvSpPr/>
          <p:nvPr/>
        </p:nvSpPr>
        <p:spPr>
          <a:xfrm>
            <a:off x="7955280" y="3858768"/>
            <a:ext cx="3337560" cy="731520"/>
          </a:xfrm>
          <a:prstGeom prst="rect">
            <a:avLst/>
          </a:prstGeom>
          <a:noFill/>
          <a:ln/>
        </p:spPr>
        <p:txBody>
          <a:bodyPr wrap="square" lIns="0" tIns="0" rIns="0" bIns="0" rtlCol="0" anchor="ctr"/>
          <a:lstStyle/>
          <a:p>
            <a:pPr indent="0" marL="0">
              <a:buNone/>
            </a:pPr>
            <a:r>
              <a:rPr lang="en-US" sz="1100" dirty="0">
                <a:solidFill>
                  <a:srgbClr val="232634"/>
                </a:solidFill>
                <a:latin typeface="Calibri" pitchFamily="34" charset="0"/>
                <a:ea typeface="Calibri" pitchFamily="34" charset="-122"/>
                <a:cs typeface="Calibri" pitchFamily="34" charset="-120"/>
              </a:rPr>
              <a:t>of Gemini's confidence scores are 95 or higher, a pattern the paper calls confidence collapse</a:t>
            </a:r>
            <a:endParaRPr lang="en-US" sz="1100" dirty="0"/>
          </a:p>
        </p:txBody>
      </p:sp>
      <p:sp>
        <p:nvSpPr>
          <p:cNvPr id="12" name="Shape 9"/>
          <p:cNvSpPr/>
          <p:nvPr/>
        </p:nvSpPr>
        <p:spPr>
          <a:xfrm>
            <a:off x="7726680" y="4791456"/>
            <a:ext cx="3794760" cy="1417320"/>
          </a:xfrm>
          <a:prstGeom prst="roundRect">
            <a:avLst>
              <a:gd name="adj" fmla="val 5161"/>
            </a:avLst>
          </a:prstGeom>
          <a:solidFill>
            <a:srgbClr val="F4F7FE"/>
          </a:solidFill>
          <a:ln/>
        </p:spPr>
      </p:sp>
      <p:sp>
        <p:nvSpPr>
          <p:cNvPr id="13" name="Text 10"/>
          <p:cNvSpPr/>
          <p:nvPr/>
        </p:nvSpPr>
        <p:spPr>
          <a:xfrm>
            <a:off x="7955280" y="4882896"/>
            <a:ext cx="3337560" cy="548640"/>
          </a:xfrm>
          <a:prstGeom prst="rect">
            <a:avLst/>
          </a:prstGeom>
          <a:noFill/>
          <a:ln/>
        </p:spPr>
        <p:txBody>
          <a:bodyPr wrap="square" lIns="0" tIns="0" rIns="0" bIns="0" rtlCol="0" anchor="ctr"/>
          <a:lstStyle/>
          <a:p>
            <a:pPr indent="0" marL="0">
              <a:buNone/>
            </a:pPr>
            <a:r>
              <a:rPr lang="en-US" sz="3000" b="1" dirty="0">
                <a:solidFill>
                  <a:srgbClr val="2C8C6E"/>
                </a:solidFill>
                <a:latin typeface="Cambria" pitchFamily="34" charset="0"/>
                <a:ea typeface="Cambria" pitchFamily="34" charset="-122"/>
                <a:cs typeface="Cambria" pitchFamily="34" charset="-120"/>
              </a:rPr>
              <a:t>+0.011</a:t>
            </a:r>
            <a:endParaRPr lang="en-US" sz="3000" dirty="0"/>
          </a:p>
        </p:txBody>
      </p:sp>
      <p:sp>
        <p:nvSpPr>
          <p:cNvPr id="14" name="Text 11"/>
          <p:cNvSpPr/>
          <p:nvPr/>
        </p:nvSpPr>
        <p:spPr>
          <a:xfrm>
            <a:off x="7955280" y="5431536"/>
            <a:ext cx="3337560" cy="731520"/>
          </a:xfrm>
          <a:prstGeom prst="rect">
            <a:avLst/>
          </a:prstGeom>
          <a:noFill/>
          <a:ln/>
        </p:spPr>
        <p:txBody>
          <a:bodyPr wrap="square" lIns="0" tIns="0" rIns="0" bIns="0" rtlCol="0" anchor="ctr"/>
          <a:lstStyle/>
          <a:p>
            <a:pPr indent="0" marL="0">
              <a:buNone/>
            </a:pPr>
            <a:r>
              <a:rPr lang="en-US" sz="1100" dirty="0">
                <a:solidFill>
                  <a:srgbClr val="232634"/>
                </a:solidFill>
                <a:latin typeface="Calibri" pitchFamily="34" charset="0"/>
                <a:ea typeface="Calibri" pitchFamily="34" charset="-122"/>
                <a:cs typeface="Calibri" pitchFamily="34" charset="-120"/>
              </a:rPr>
              <a:t>Claude Haiku's gap on hard items. It stays close to calibrated at every difficulty level.</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92608"/>
          </a:xfrm>
          <a:prstGeom prst="rect">
            <a:avLst/>
          </a:prstGeom>
          <a:noFill/>
          <a:ln/>
        </p:spPr>
        <p:txBody>
          <a:bodyPr wrap="square" lIns="0" tIns="0" rIns="0" bIns="0" rtlCol="0" anchor="ctr"/>
          <a:lstStyle/>
          <a:p>
            <a:pPr indent="0" marL="0">
              <a:buNone/>
            </a:pPr>
            <a:r>
              <a:rPr lang="en-US" sz="1250" b="1" spc="300" kern="0" dirty="0">
                <a:solidFill>
                  <a:srgbClr val="F96167"/>
                </a:solidFill>
                <a:latin typeface="Calibri" pitchFamily="34" charset="0"/>
                <a:ea typeface="Calibri" pitchFamily="34" charset="-122"/>
                <a:cs typeface="Calibri" pitchFamily="34" charset="-120"/>
              </a:rPr>
              <a:t>RESULTS &amp; FINDINGS</a:t>
            </a:r>
            <a:endParaRPr lang="en-US" sz="12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Each Model Behaves Differently</a:t>
            </a:r>
            <a:endParaRPr lang="en-US" sz="3200" dirty="0"/>
          </a:p>
        </p:txBody>
      </p:sp>
      <p:sp>
        <p:nvSpPr>
          <p:cNvPr id="4" name="Shape 2"/>
          <p:cNvSpPr/>
          <p:nvPr/>
        </p:nvSpPr>
        <p:spPr>
          <a:xfrm>
            <a:off x="640080" y="1645920"/>
            <a:ext cx="3593592" cy="4709160"/>
          </a:xfrm>
          <a:prstGeom prst="roundRect">
            <a:avLst>
              <a:gd name="adj" fmla="val 2290"/>
            </a:avLst>
          </a:prstGeom>
          <a:solidFill>
            <a:srgbClr val="F4F7FE"/>
          </a:solidFill>
          <a:ln/>
        </p:spPr>
      </p:sp>
      <p:sp>
        <p:nvSpPr>
          <p:cNvPr id="5" name="Shape 3"/>
          <p:cNvSpPr/>
          <p:nvPr/>
        </p:nvSpPr>
        <p:spPr>
          <a:xfrm>
            <a:off x="868680" y="1874520"/>
            <a:ext cx="502920" cy="502920"/>
          </a:xfrm>
          <a:prstGeom prst="ellipse">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979322" y="1985162"/>
            <a:ext cx="281635" cy="281635"/>
          </a:xfrm>
          <a:prstGeom prst="rect">
            <a:avLst/>
          </a:prstGeom>
        </p:spPr>
      </p:pic>
      <p:sp>
        <p:nvSpPr>
          <p:cNvPr id="7" name="Text 4"/>
          <p:cNvSpPr/>
          <p:nvPr/>
        </p:nvSpPr>
        <p:spPr>
          <a:xfrm>
            <a:off x="1508760" y="1901952"/>
            <a:ext cx="2587752" cy="32004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Claude Haiku</a:t>
            </a:r>
            <a:endParaRPr lang="en-US" sz="1600" dirty="0"/>
          </a:p>
        </p:txBody>
      </p:sp>
      <p:sp>
        <p:nvSpPr>
          <p:cNvPr id="8" name="Text 5"/>
          <p:cNvSpPr/>
          <p:nvPr/>
        </p:nvSpPr>
        <p:spPr>
          <a:xfrm>
            <a:off x="1508760" y="2212848"/>
            <a:ext cx="2587752" cy="274320"/>
          </a:xfrm>
          <a:prstGeom prst="rect">
            <a:avLst/>
          </a:prstGeom>
          <a:noFill/>
          <a:ln/>
        </p:spPr>
        <p:txBody>
          <a:bodyPr wrap="square" lIns="0" tIns="0" rIns="0" bIns="0" rtlCol="0" anchor="ctr"/>
          <a:lstStyle/>
          <a:p>
            <a:pPr indent="0" marL="0">
              <a:buNone/>
            </a:pPr>
            <a:r>
              <a:rPr lang="en-US" sz="1150" b="1" i="1" dirty="0">
                <a:solidFill>
                  <a:srgbClr val="2C8C6E"/>
                </a:solidFill>
                <a:latin typeface="Calibri" pitchFamily="34" charset="0"/>
                <a:ea typeface="Calibri" pitchFamily="34" charset="-122"/>
                <a:cs typeface="Calibri" pitchFamily="34" charset="-120"/>
              </a:rPr>
              <a:t>Best calibrated</a:t>
            </a:r>
            <a:endParaRPr lang="en-US" sz="1150" dirty="0"/>
          </a:p>
        </p:txBody>
      </p:sp>
      <p:sp>
        <p:nvSpPr>
          <p:cNvPr id="9" name="Text 6"/>
          <p:cNvSpPr/>
          <p:nvPr/>
        </p:nvSpPr>
        <p:spPr>
          <a:xfrm>
            <a:off x="896112" y="2697480"/>
            <a:ext cx="1463040" cy="292608"/>
          </a:xfrm>
          <a:prstGeom prst="rect">
            <a:avLst/>
          </a:prstGeom>
          <a:noFill/>
          <a:ln/>
        </p:spPr>
        <p:txBody>
          <a:bodyPr wrap="square" lIns="0" tIns="0" rIns="0" bIns="0" rtlCol="0" anchor="ctr"/>
          <a:lstStyle/>
          <a:p>
            <a:pPr indent="0" marL="0">
              <a:buNone/>
            </a:pPr>
            <a:r>
              <a:rPr lang="en-US" sz="1200" dirty="0">
                <a:solidFill>
                  <a:srgbClr val="5A6178"/>
                </a:solidFill>
                <a:latin typeface="Calibri" pitchFamily="34" charset="0"/>
                <a:ea typeface="Calibri" pitchFamily="34" charset="-122"/>
                <a:cs typeface="Calibri" pitchFamily="34" charset="-120"/>
              </a:rPr>
              <a:t>Accuracy</a:t>
            </a:r>
            <a:endParaRPr lang="en-US" sz="1200" dirty="0"/>
          </a:p>
        </p:txBody>
      </p:sp>
      <p:sp>
        <p:nvSpPr>
          <p:cNvPr id="10" name="Text 7"/>
          <p:cNvSpPr/>
          <p:nvPr/>
        </p:nvSpPr>
        <p:spPr>
          <a:xfrm>
            <a:off x="2377440" y="2697480"/>
            <a:ext cx="1581912" cy="292608"/>
          </a:xfrm>
          <a:prstGeom prst="rect">
            <a:avLst/>
          </a:prstGeom>
          <a:noFill/>
          <a:ln/>
        </p:spPr>
        <p:txBody>
          <a:bodyPr wrap="square" lIns="0" tIns="0" rIns="0" bIns="0" rtlCol="0" anchor="ctr"/>
          <a:lstStyle/>
          <a:p>
            <a:pPr algn="r" indent="0" marL="0">
              <a:buNone/>
            </a:pPr>
            <a:r>
              <a:rPr lang="en-US" sz="1350" b="1" dirty="0">
                <a:solidFill>
                  <a:srgbClr val="232634"/>
                </a:solidFill>
                <a:latin typeface="Calibri" pitchFamily="34" charset="0"/>
                <a:ea typeface="Calibri" pitchFamily="34" charset="-122"/>
                <a:cs typeface="Calibri" pitchFamily="34" charset="-120"/>
              </a:rPr>
              <a:t>89.5%</a:t>
            </a:r>
            <a:endParaRPr lang="en-US" sz="1350" dirty="0"/>
          </a:p>
        </p:txBody>
      </p:sp>
      <p:sp>
        <p:nvSpPr>
          <p:cNvPr id="11" name="Text 8"/>
          <p:cNvSpPr/>
          <p:nvPr/>
        </p:nvSpPr>
        <p:spPr>
          <a:xfrm>
            <a:off x="896112" y="3044952"/>
            <a:ext cx="1463040" cy="292608"/>
          </a:xfrm>
          <a:prstGeom prst="rect">
            <a:avLst/>
          </a:prstGeom>
          <a:noFill/>
          <a:ln/>
        </p:spPr>
        <p:txBody>
          <a:bodyPr wrap="square" lIns="0" tIns="0" rIns="0" bIns="0" rtlCol="0" anchor="ctr"/>
          <a:lstStyle/>
          <a:p>
            <a:pPr indent="0" marL="0">
              <a:buNone/>
            </a:pPr>
            <a:r>
              <a:rPr lang="en-US" sz="1200" dirty="0">
                <a:solidFill>
                  <a:srgbClr val="5A6178"/>
                </a:solidFill>
                <a:latin typeface="Calibri" pitchFamily="34" charset="0"/>
                <a:ea typeface="Calibri" pitchFamily="34" charset="-122"/>
                <a:cs typeface="Calibri" pitchFamily="34" charset="-120"/>
              </a:rPr>
              <a:t>ECE</a:t>
            </a:r>
            <a:endParaRPr lang="en-US" sz="1200" dirty="0"/>
          </a:p>
        </p:txBody>
      </p:sp>
      <p:sp>
        <p:nvSpPr>
          <p:cNvPr id="12" name="Text 9"/>
          <p:cNvSpPr/>
          <p:nvPr/>
        </p:nvSpPr>
        <p:spPr>
          <a:xfrm>
            <a:off x="2377440" y="3044952"/>
            <a:ext cx="1581912" cy="292608"/>
          </a:xfrm>
          <a:prstGeom prst="rect">
            <a:avLst/>
          </a:prstGeom>
          <a:noFill/>
          <a:ln/>
        </p:spPr>
        <p:txBody>
          <a:bodyPr wrap="square" lIns="0" tIns="0" rIns="0" bIns="0" rtlCol="0" anchor="ctr"/>
          <a:lstStyle/>
          <a:p>
            <a:pPr algn="r" indent="0" marL="0">
              <a:buNone/>
            </a:pPr>
            <a:r>
              <a:rPr lang="en-US" sz="1350" b="1" dirty="0">
                <a:solidFill>
                  <a:srgbClr val="232634"/>
                </a:solidFill>
                <a:latin typeface="Calibri" pitchFamily="34" charset="0"/>
                <a:ea typeface="Calibri" pitchFamily="34" charset="-122"/>
                <a:cs typeface="Calibri" pitchFamily="34" charset="-120"/>
              </a:rPr>
              <a:t>0.033</a:t>
            </a:r>
            <a:endParaRPr lang="en-US" sz="1350" dirty="0"/>
          </a:p>
        </p:txBody>
      </p:sp>
      <p:sp>
        <p:nvSpPr>
          <p:cNvPr id="13" name="Text 10"/>
          <p:cNvSpPr/>
          <p:nvPr/>
        </p:nvSpPr>
        <p:spPr>
          <a:xfrm>
            <a:off x="896112" y="3392424"/>
            <a:ext cx="1463040" cy="292608"/>
          </a:xfrm>
          <a:prstGeom prst="rect">
            <a:avLst/>
          </a:prstGeom>
          <a:noFill/>
          <a:ln/>
        </p:spPr>
        <p:txBody>
          <a:bodyPr wrap="square" lIns="0" tIns="0" rIns="0" bIns="0" rtlCol="0" anchor="ctr"/>
          <a:lstStyle/>
          <a:p>
            <a:pPr indent="0" marL="0">
              <a:buNone/>
            </a:pPr>
            <a:r>
              <a:rPr lang="en-US" sz="1200" dirty="0">
                <a:solidFill>
                  <a:srgbClr val="5A6178"/>
                </a:solidFill>
                <a:latin typeface="Calibri" pitchFamily="34" charset="0"/>
                <a:ea typeface="Calibri" pitchFamily="34" charset="-122"/>
                <a:cs typeface="Calibri" pitchFamily="34" charset="-120"/>
              </a:rPr>
              <a:t>Gap</a:t>
            </a:r>
            <a:endParaRPr lang="en-US" sz="1200" dirty="0"/>
          </a:p>
        </p:txBody>
      </p:sp>
      <p:sp>
        <p:nvSpPr>
          <p:cNvPr id="14" name="Text 11"/>
          <p:cNvSpPr/>
          <p:nvPr/>
        </p:nvSpPr>
        <p:spPr>
          <a:xfrm>
            <a:off x="2377440" y="3392424"/>
            <a:ext cx="1581912" cy="292608"/>
          </a:xfrm>
          <a:prstGeom prst="rect">
            <a:avLst/>
          </a:prstGeom>
          <a:noFill/>
          <a:ln/>
        </p:spPr>
        <p:txBody>
          <a:bodyPr wrap="square" lIns="0" tIns="0" rIns="0" bIns="0" rtlCol="0" anchor="ctr"/>
          <a:lstStyle/>
          <a:p>
            <a:pPr algn="r" indent="0" marL="0">
              <a:buNone/>
            </a:pPr>
            <a:r>
              <a:rPr lang="en-US" sz="1350" b="1" dirty="0">
                <a:solidFill>
                  <a:srgbClr val="232634"/>
                </a:solidFill>
                <a:latin typeface="Calibri" pitchFamily="34" charset="0"/>
                <a:ea typeface="Calibri" pitchFamily="34" charset="-122"/>
                <a:cs typeface="Calibri" pitchFamily="34" charset="-120"/>
              </a:rPr>
              <a:t>−0.017</a:t>
            </a:r>
            <a:endParaRPr lang="en-US" sz="1350" dirty="0"/>
          </a:p>
        </p:txBody>
      </p:sp>
      <p:sp>
        <p:nvSpPr>
          <p:cNvPr id="15" name="Shape 12"/>
          <p:cNvSpPr/>
          <p:nvPr/>
        </p:nvSpPr>
        <p:spPr>
          <a:xfrm>
            <a:off x="896112" y="3785616"/>
            <a:ext cx="3081528" cy="0"/>
          </a:xfrm>
          <a:prstGeom prst="line">
            <a:avLst/>
          </a:prstGeom>
          <a:noFill/>
          <a:ln w="12700">
            <a:solidFill>
              <a:srgbClr val="D8DFF0"/>
            </a:solidFill>
            <a:prstDash val="solid"/>
          </a:ln>
        </p:spPr>
      </p:sp>
      <p:sp>
        <p:nvSpPr>
          <p:cNvPr id="16" name="Text 13"/>
          <p:cNvSpPr/>
          <p:nvPr/>
        </p:nvSpPr>
        <p:spPr>
          <a:xfrm>
            <a:off x="896112" y="3922776"/>
            <a:ext cx="3081528" cy="2194560"/>
          </a:xfrm>
          <a:prstGeom prst="rect">
            <a:avLst/>
          </a:prstGeom>
          <a:noFill/>
          <a:ln/>
        </p:spPr>
        <p:txBody>
          <a:bodyPr wrap="square" lIns="0" tIns="0" rIns="0" bIns="0" rtlCol="0" anchor="ctr"/>
          <a:lstStyle/>
          <a:p>
            <a:pPr indent="0" marL="0">
              <a:buNone/>
            </a:pPr>
            <a:r>
              <a:rPr lang="en-US" sz="1150" dirty="0">
                <a:solidFill>
                  <a:srgbClr val="232634"/>
                </a:solidFill>
                <a:latin typeface="Calibri" pitchFamily="34" charset="0"/>
                <a:ea typeface="Calibri" pitchFamily="34" charset="-122"/>
                <a:cs typeface="Calibri" pitchFamily="34" charset="-120"/>
              </a:rPr>
              <a:t>Slightly underconfident overall, with the lowest ECE in every domain (0.012 on STEM). Its stated confidence is comparatively informative.</a:t>
            </a:r>
            <a:endParaRPr lang="en-US" sz="1150" dirty="0"/>
          </a:p>
        </p:txBody>
      </p:sp>
      <p:sp>
        <p:nvSpPr>
          <p:cNvPr id="17" name="Shape 14"/>
          <p:cNvSpPr/>
          <p:nvPr/>
        </p:nvSpPr>
        <p:spPr>
          <a:xfrm>
            <a:off x="4343400" y="1645920"/>
            <a:ext cx="3593592" cy="4709160"/>
          </a:xfrm>
          <a:prstGeom prst="roundRect">
            <a:avLst>
              <a:gd name="adj" fmla="val 2290"/>
            </a:avLst>
          </a:prstGeom>
          <a:solidFill>
            <a:srgbClr val="F4F7FE"/>
          </a:solidFill>
          <a:ln/>
        </p:spPr>
      </p:sp>
      <p:sp>
        <p:nvSpPr>
          <p:cNvPr id="18" name="Shape 15"/>
          <p:cNvSpPr/>
          <p:nvPr/>
        </p:nvSpPr>
        <p:spPr>
          <a:xfrm>
            <a:off x="4572000" y="1874520"/>
            <a:ext cx="502920" cy="502920"/>
          </a:xfrm>
          <a:prstGeom prst="ellipse">
            <a:avLst/>
          </a:prstGeom>
          <a:solidFill>
            <a:srgbClr val="FFFFFF"/>
          </a:solidFill>
          <a:ln/>
        </p:spPr>
      </p:sp>
      <p:pic>
        <p:nvPicPr>
          <p:cNvPr id="19" name="Image 1" descr="preencoded.png">    </p:cNvPr>
          <p:cNvPicPr>
            <a:picLocks noChangeAspect="1"/>
          </p:cNvPicPr>
          <p:nvPr/>
        </p:nvPicPr>
        <p:blipFill>
          <a:blip r:embed="rId2"/>
          <a:stretch>
            <a:fillRect/>
          </a:stretch>
        </p:blipFill>
        <p:spPr>
          <a:xfrm>
            <a:off x="4682642" y="1985162"/>
            <a:ext cx="281635" cy="281635"/>
          </a:xfrm>
          <a:prstGeom prst="rect">
            <a:avLst/>
          </a:prstGeom>
        </p:spPr>
      </p:pic>
      <p:sp>
        <p:nvSpPr>
          <p:cNvPr id="20" name="Text 16"/>
          <p:cNvSpPr/>
          <p:nvPr/>
        </p:nvSpPr>
        <p:spPr>
          <a:xfrm>
            <a:off x="5212080" y="1901952"/>
            <a:ext cx="2587752" cy="32004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GPT-4o-mini</a:t>
            </a:r>
            <a:endParaRPr lang="en-US" sz="1600" dirty="0"/>
          </a:p>
        </p:txBody>
      </p:sp>
      <p:sp>
        <p:nvSpPr>
          <p:cNvPr id="21" name="Text 17"/>
          <p:cNvSpPr/>
          <p:nvPr/>
        </p:nvSpPr>
        <p:spPr>
          <a:xfrm>
            <a:off x="5212080" y="2212848"/>
            <a:ext cx="2587752" cy="274320"/>
          </a:xfrm>
          <a:prstGeom prst="rect">
            <a:avLst/>
          </a:prstGeom>
          <a:noFill/>
          <a:ln/>
        </p:spPr>
        <p:txBody>
          <a:bodyPr wrap="square" lIns="0" tIns="0" rIns="0" bIns="0" rtlCol="0" anchor="ctr"/>
          <a:lstStyle/>
          <a:p>
            <a:pPr indent="0" marL="0">
              <a:buNone/>
            </a:pPr>
            <a:r>
              <a:rPr lang="en-US" sz="1150" b="1" i="1" dirty="0">
                <a:solidFill>
                  <a:srgbClr val="F96167"/>
                </a:solidFill>
                <a:latin typeface="Calibri" pitchFamily="34" charset="0"/>
                <a:ea typeface="Calibri" pitchFamily="34" charset="-122"/>
                <a:cs typeface="Calibri" pitchFamily="34" charset="-120"/>
              </a:rPr>
              <a:t>Steepest miscalibration</a:t>
            </a:r>
            <a:endParaRPr lang="en-US" sz="1150" dirty="0"/>
          </a:p>
        </p:txBody>
      </p:sp>
      <p:sp>
        <p:nvSpPr>
          <p:cNvPr id="22" name="Text 18"/>
          <p:cNvSpPr/>
          <p:nvPr/>
        </p:nvSpPr>
        <p:spPr>
          <a:xfrm>
            <a:off x="4599432" y="2697480"/>
            <a:ext cx="1463040" cy="292608"/>
          </a:xfrm>
          <a:prstGeom prst="rect">
            <a:avLst/>
          </a:prstGeom>
          <a:noFill/>
          <a:ln/>
        </p:spPr>
        <p:txBody>
          <a:bodyPr wrap="square" lIns="0" tIns="0" rIns="0" bIns="0" rtlCol="0" anchor="ctr"/>
          <a:lstStyle/>
          <a:p>
            <a:pPr indent="0" marL="0">
              <a:buNone/>
            </a:pPr>
            <a:r>
              <a:rPr lang="en-US" sz="1200" dirty="0">
                <a:solidFill>
                  <a:srgbClr val="5A6178"/>
                </a:solidFill>
                <a:latin typeface="Calibri" pitchFamily="34" charset="0"/>
                <a:ea typeface="Calibri" pitchFamily="34" charset="-122"/>
                <a:cs typeface="Calibri" pitchFamily="34" charset="-120"/>
              </a:rPr>
              <a:t>Accuracy</a:t>
            </a:r>
            <a:endParaRPr lang="en-US" sz="1200" dirty="0"/>
          </a:p>
        </p:txBody>
      </p:sp>
      <p:sp>
        <p:nvSpPr>
          <p:cNvPr id="23" name="Text 19"/>
          <p:cNvSpPr/>
          <p:nvPr/>
        </p:nvSpPr>
        <p:spPr>
          <a:xfrm>
            <a:off x="6080760" y="2697480"/>
            <a:ext cx="1581912" cy="292608"/>
          </a:xfrm>
          <a:prstGeom prst="rect">
            <a:avLst/>
          </a:prstGeom>
          <a:noFill/>
          <a:ln/>
        </p:spPr>
        <p:txBody>
          <a:bodyPr wrap="square" lIns="0" tIns="0" rIns="0" bIns="0" rtlCol="0" anchor="ctr"/>
          <a:lstStyle/>
          <a:p>
            <a:pPr algn="r" indent="0" marL="0">
              <a:buNone/>
            </a:pPr>
            <a:r>
              <a:rPr lang="en-US" sz="1350" b="1" dirty="0">
                <a:solidFill>
                  <a:srgbClr val="232634"/>
                </a:solidFill>
                <a:latin typeface="Calibri" pitchFamily="34" charset="0"/>
                <a:ea typeface="Calibri" pitchFamily="34" charset="-122"/>
                <a:cs typeface="Calibri" pitchFamily="34" charset="-120"/>
              </a:rPr>
              <a:t>71.5%</a:t>
            </a:r>
            <a:endParaRPr lang="en-US" sz="1350" dirty="0"/>
          </a:p>
        </p:txBody>
      </p:sp>
      <p:sp>
        <p:nvSpPr>
          <p:cNvPr id="24" name="Text 20"/>
          <p:cNvSpPr/>
          <p:nvPr/>
        </p:nvSpPr>
        <p:spPr>
          <a:xfrm>
            <a:off x="4599432" y="3044952"/>
            <a:ext cx="1463040" cy="292608"/>
          </a:xfrm>
          <a:prstGeom prst="rect">
            <a:avLst/>
          </a:prstGeom>
          <a:noFill/>
          <a:ln/>
        </p:spPr>
        <p:txBody>
          <a:bodyPr wrap="square" lIns="0" tIns="0" rIns="0" bIns="0" rtlCol="0" anchor="ctr"/>
          <a:lstStyle/>
          <a:p>
            <a:pPr indent="0" marL="0">
              <a:buNone/>
            </a:pPr>
            <a:r>
              <a:rPr lang="en-US" sz="1200" dirty="0">
                <a:solidFill>
                  <a:srgbClr val="5A6178"/>
                </a:solidFill>
                <a:latin typeface="Calibri" pitchFamily="34" charset="0"/>
                <a:ea typeface="Calibri" pitchFamily="34" charset="-122"/>
                <a:cs typeface="Calibri" pitchFamily="34" charset="-120"/>
              </a:rPr>
              <a:t>ECE</a:t>
            </a:r>
            <a:endParaRPr lang="en-US" sz="1200" dirty="0"/>
          </a:p>
        </p:txBody>
      </p:sp>
      <p:sp>
        <p:nvSpPr>
          <p:cNvPr id="25" name="Text 21"/>
          <p:cNvSpPr/>
          <p:nvPr/>
        </p:nvSpPr>
        <p:spPr>
          <a:xfrm>
            <a:off x="6080760" y="3044952"/>
            <a:ext cx="1581912" cy="292608"/>
          </a:xfrm>
          <a:prstGeom prst="rect">
            <a:avLst/>
          </a:prstGeom>
          <a:noFill/>
          <a:ln/>
        </p:spPr>
        <p:txBody>
          <a:bodyPr wrap="square" lIns="0" tIns="0" rIns="0" bIns="0" rtlCol="0" anchor="ctr"/>
          <a:lstStyle/>
          <a:p>
            <a:pPr algn="r" indent="0" marL="0">
              <a:buNone/>
            </a:pPr>
            <a:r>
              <a:rPr lang="en-US" sz="1350" b="1" dirty="0">
                <a:solidFill>
                  <a:srgbClr val="232634"/>
                </a:solidFill>
                <a:latin typeface="Calibri" pitchFamily="34" charset="0"/>
                <a:ea typeface="Calibri" pitchFamily="34" charset="-122"/>
                <a:cs typeface="Calibri" pitchFamily="34" charset="-120"/>
              </a:rPr>
              <a:t>0.157</a:t>
            </a:r>
            <a:endParaRPr lang="en-US" sz="1350" dirty="0"/>
          </a:p>
        </p:txBody>
      </p:sp>
      <p:sp>
        <p:nvSpPr>
          <p:cNvPr id="26" name="Text 22"/>
          <p:cNvSpPr/>
          <p:nvPr/>
        </p:nvSpPr>
        <p:spPr>
          <a:xfrm>
            <a:off x="4599432" y="3392424"/>
            <a:ext cx="1463040" cy="292608"/>
          </a:xfrm>
          <a:prstGeom prst="rect">
            <a:avLst/>
          </a:prstGeom>
          <a:noFill/>
          <a:ln/>
        </p:spPr>
        <p:txBody>
          <a:bodyPr wrap="square" lIns="0" tIns="0" rIns="0" bIns="0" rtlCol="0" anchor="ctr"/>
          <a:lstStyle/>
          <a:p>
            <a:pPr indent="0" marL="0">
              <a:buNone/>
            </a:pPr>
            <a:r>
              <a:rPr lang="en-US" sz="1200" dirty="0">
                <a:solidFill>
                  <a:srgbClr val="5A6178"/>
                </a:solidFill>
                <a:latin typeface="Calibri" pitchFamily="34" charset="0"/>
                <a:ea typeface="Calibri" pitchFamily="34" charset="-122"/>
                <a:cs typeface="Calibri" pitchFamily="34" charset="-120"/>
              </a:rPr>
              <a:t>Gap</a:t>
            </a:r>
            <a:endParaRPr lang="en-US" sz="1200" dirty="0"/>
          </a:p>
        </p:txBody>
      </p:sp>
      <p:sp>
        <p:nvSpPr>
          <p:cNvPr id="27" name="Text 23"/>
          <p:cNvSpPr/>
          <p:nvPr/>
        </p:nvSpPr>
        <p:spPr>
          <a:xfrm>
            <a:off x="6080760" y="3392424"/>
            <a:ext cx="1581912" cy="292608"/>
          </a:xfrm>
          <a:prstGeom prst="rect">
            <a:avLst/>
          </a:prstGeom>
          <a:noFill/>
          <a:ln/>
        </p:spPr>
        <p:txBody>
          <a:bodyPr wrap="square" lIns="0" tIns="0" rIns="0" bIns="0" rtlCol="0" anchor="ctr"/>
          <a:lstStyle/>
          <a:p>
            <a:pPr algn="r" indent="0" marL="0">
              <a:buNone/>
            </a:pPr>
            <a:r>
              <a:rPr lang="en-US" sz="1350" b="1" dirty="0">
                <a:solidFill>
                  <a:srgbClr val="232634"/>
                </a:solidFill>
                <a:latin typeface="Calibri" pitchFamily="34" charset="0"/>
                <a:ea typeface="Calibri" pitchFamily="34" charset="-122"/>
                <a:cs typeface="Calibri" pitchFamily="34" charset="-120"/>
              </a:rPr>
              <a:t>+0.156</a:t>
            </a:r>
            <a:endParaRPr lang="en-US" sz="1350" dirty="0"/>
          </a:p>
        </p:txBody>
      </p:sp>
      <p:sp>
        <p:nvSpPr>
          <p:cNvPr id="28" name="Shape 24"/>
          <p:cNvSpPr/>
          <p:nvPr/>
        </p:nvSpPr>
        <p:spPr>
          <a:xfrm>
            <a:off x="4599432" y="3785616"/>
            <a:ext cx="3081528" cy="0"/>
          </a:xfrm>
          <a:prstGeom prst="line">
            <a:avLst/>
          </a:prstGeom>
          <a:noFill/>
          <a:ln w="12700">
            <a:solidFill>
              <a:srgbClr val="D8DFF0"/>
            </a:solidFill>
            <a:prstDash val="solid"/>
          </a:ln>
        </p:spPr>
      </p:sp>
      <p:sp>
        <p:nvSpPr>
          <p:cNvPr id="29" name="Text 25"/>
          <p:cNvSpPr/>
          <p:nvPr/>
        </p:nvSpPr>
        <p:spPr>
          <a:xfrm>
            <a:off x="4599432" y="3922776"/>
            <a:ext cx="3081528" cy="2194560"/>
          </a:xfrm>
          <a:prstGeom prst="rect">
            <a:avLst/>
          </a:prstGeom>
          <a:noFill/>
          <a:ln/>
        </p:spPr>
        <p:txBody>
          <a:bodyPr wrap="square" lIns="0" tIns="0" rIns="0" bIns="0" rtlCol="0" anchor="ctr"/>
          <a:lstStyle/>
          <a:p>
            <a:pPr indent="0" marL="0">
              <a:buNone/>
            </a:pPr>
            <a:r>
              <a:rPr lang="en-US" sz="1150" dirty="0">
                <a:solidFill>
                  <a:srgbClr val="232634"/>
                </a:solidFill>
                <a:latin typeface="Calibri" pitchFamily="34" charset="0"/>
                <a:ea typeface="Calibri" pitchFamily="34" charset="-122"/>
                <a:cs typeface="Calibri" pitchFamily="34" charset="-120"/>
              </a:rPr>
              <a:t>Largest difficulty slope (0.163). Verbal confidence only weakly tracks internal token probability (r = 0.22), and internal ECE is actually worse (0.243).</a:t>
            </a:r>
            <a:endParaRPr lang="en-US" sz="1150" dirty="0"/>
          </a:p>
        </p:txBody>
      </p:sp>
      <p:sp>
        <p:nvSpPr>
          <p:cNvPr id="30" name="Shape 26"/>
          <p:cNvSpPr/>
          <p:nvPr/>
        </p:nvSpPr>
        <p:spPr>
          <a:xfrm>
            <a:off x="8046720" y="1645920"/>
            <a:ext cx="3593592" cy="4709160"/>
          </a:xfrm>
          <a:prstGeom prst="roundRect">
            <a:avLst>
              <a:gd name="adj" fmla="val 2290"/>
            </a:avLst>
          </a:prstGeom>
          <a:solidFill>
            <a:srgbClr val="F4F7FE"/>
          </a:solidFill>
          <a:ln/>
        </p:spPr>
      </p:sp>
      <p:sp>
        <p:nvSpPr>
          <p:cNvPr id="31" name="Shape 27"/>
          <p:cNvSpPr/>
          <p:nvPr/>
        </p:nvSpPr>
        <p:spPr>
          <a:xfrm>
            <a:off x="8275320" y="1874520"/>
            <a:ext cx="502920" cy="502920"/>
          </a:xfrm>
          <a:prstGeom prst="ellipse">
            <a:avLst/>
          </a:prstGeom>
          <a:solidFill>
            <a:srgbClr val="FFFFFF"/>
          </a:solidFill>
          <a:ln/>
        </p:spPr>
      </p:sp>
      <p:pic>
        <p:nvPicPr>
          <p:cNvPr id="32" name="Image 2" descr="preencoded.png">    </p:cNvPr>
          <p:cNvPicPr>
            <a:picLocks noChangeAspect="1"/>
          </p:cNvPicPr>
          <p:nvPr/>
        </p:nvPicPr>
        <p:blipFill>
          <a:blip r:embed="rId3"/>
          <a:stretch>
            <a:fillRect/>
          </a:stretch>
        </p:blipFill>
        <p:spPr>
          <a:xfrm>
            <a:off x="8385962" y="1985162"/>
            <a:ext cx="281635" cy="281635"/>
          </a:xfrm>
          <a:prstGeom prst="rect">
            <a:avLst/>
          </a:prstGeom>
        </p:spPr>
      </p:pic>
      <p:sp>
        <p:nvSpPr>
          <p:cNvPr id="33" name="Text 28"/>
          <p:cNvSpPr/>
          <p:nvPr/>
        </p:nvSpPr>
        <p:spPr>
          <a:xfrm>
            <a:off x="8915400" y="1901952"/>
            <a:ext cx="2587752" cy="32004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Gemini Flash-Lite</a:t>
            </a:r>
            <a:endParaRPr lang="en-US" sz="1600" dirty="0"/>
          </a:p>
        </p:txBody>
      </p:sp>
      <p:sp>
        <p:nvSpPr>
          <p:cNvPr id="34" name="Text 29"/>
          <p:cNvSpPr/>
          <p:nvPr/>
        </p:nvSpPr>
        <p:spPr>
          <a:xfrm>
            <a:off x="8915400" y="2212848"/>
            <a:ext cx="2587752" cy="274320"/>
          </a:xfrm>
          <a:prstGeom prst="rect">
            <a:avLst/>
          </a:prstGeom>
          <a:noFill/>
          <a:ln/>
        </p:spPr>
        <p:txBody>
          <a:bodyPr wrap="square" lIns="0" tIns="0" rIns="0" bIns="0" rtlCol="0" anchor="ctr"/>
          <a:lstStyle/>
          <a:p>
            <a:pPr indent="0" marL="0">
              <a:buNone/>
            </a:pPr>
            <a:r>
              <a:rPr lang="en-US" sz="1150" b="1" i="1" dirty="0">
                <a:solidFill>
                  <a:srgbClr val="B8860B"/>
                </a:solidFill>
                <a:latin typeface="Calibri" pitchFamily="34" charset="0"/>
                <a:ea typeface="Calibri" pitchFamily="34" charset="-122"/>
                <a:cs typeface="Calibri" pitchFamily="34" charset="-120"/>
              </a:rPr>
              <a:t>Confidence collapse</a:t>
            </a:r>
            <a:endParaRPr lang="en-US" sz="1150" dirty="0"/>
          </a:p>
        </p:txBody>
      </p:sp>
      <p:sp>
        <p:nvSpPr>
          <p:cNvPr id="35" name="Text 30"/>
          <p:cNvSpPr/>
          <p:nvPr/>
        </p:nvSpPr>
        <p:spPr>
          <a:xfrm>
            <a:off x="8302752" y="2697480"/>
            <a:ext cx="1463040" cy="292608"/>
          </a:xfrm>
          <a:prstGeom prst="rect">
            <a:avLst/>
          </a:prstGeom>
          <a:noFill/>
          <a:ln/>
        </p:spPr>
        <p:txBody>
          <a:bodyPr wrap="square" lIns="0" tIns="0" rIns="0" bIns="0" rtlCol="0" anchor="ctr"/>
          <a:lstStyle/>
          <a:p>
            <a:pPr indent="0" marL="0">
              <a:buNone/>
            </a:pPr>
            <a:r>
              <a:rPr lang="en-US" sz="1200" dirty="0">
                <a:solidFill>
                  <a:srgbClr val="5A6178"/>
                </a:solidFill>
                <a:latin typeface="Calibri" pitchFamily="34" charset="0"/>
                <a:ea typeface="Calibri" pitchFamily="34" charset="-122"/>
                <a:cs typeface="Calibri" pitchFamily="34" charset="-120"/>
              </a:rPr>
              <a:t>Accuracy</a:t>
            </a:r>
            <a:endParaRPr lang="en-US" sz="1200" dirty="0"/>
          </a:p>
        </p:txBody>
      </p:sp>
      <p:sp>
        <p:nvSpPr>
          <p:cNvPr id="36" name="Text 31"/>
          <p:cNvSpPr/>
          <p:nvPr/>
        </p:nvSpPr>
        <p:spPr>
          <a:xfrm>
            <a:off x="9784080" y="2697480"/>
            <a:ext cx="1581912" cy="292608"/>
          </a:xfrm>
          <a:prstGeom prst="rect">
            <a:avLst/>
          </a:prstGeom>
          <a:noFill/>
          <a:ln/>
        </p:spPr>
        <p:txBody>
          <a:bodyPr wrap="square" lIns="0" tIns="0" rIns="0" bIns="0" rtlCol="0" anchor="ctr"/>
          <a:lstStyle/>
          <a:p>
            <a:pPr algn="r" indent="0" marL="0">
              <a:buNone/>
            </a:pPr>
            <a:r>
              <a:rPr lang="en-US" sz="1350" b="1" dirty="0">
                <a:solidFill>
                  <a:srgbClr val="232634"/>
                </a:solidFill>
                <a:latin typeface="Calibri" pitchFamily="34" charset="0"/>
                <a:ea typeface="Calibri" pitchFamily="34" charset="-122"/>
                <a:cs typeface="Calibri" pitchFamily="34" charset="-120"/>
              </a:rPr>
              <a:t>87.6%</a:t>
            </a:r>
            <a:endParaRPr lang="en-US" sz="1350" dirty="0"/>
          </a:p>
        </p:txBody>
      </p:sp>
      <p:sp>
        <p:nvSpPr>
          <p:cNvPr id="37" name="Text 32"/>
          <p:cNvSpPr/>
          <p:nvPr/>
        </p:nvSpPr>
        <p:spPr>
          <a:xfrm>
            <a:off x="8302752" y="3044952"/>
            <a:ext cx="1463040" cy="292608"/>
          </a:xfrm>
          <a:prstGeom prst="rect">
            <a:avLst/>
          </a:prstGeom>
          <a:noFill/>
          <a:ln/>
        </p:spPr>
        <p:txBody>
          <a:bodyPr wrap="square" lIns="0" tIns="0" rIns="0" bIns="0" rtlCol="0" anchor="ctr"/>
          <a:lstStyle/>
          <a:p>
            <a:pPr indent="0" marL="0">
              <a:buNone/>
            </a:pPr>
            <a:r>
              <a:rPr lang="en-US" sz="1200" dirty="0">
                <a:solidFill>
                  <a:srgbClr val="5A6178"/>
                </a:solidFill>
                <a:latin typeface="Calibri" pitchFamily="34" charset="0"/>
                <a:ea typeface="Calibri" pitchFamily="34" charset="-122"/>
                <a:cs typeface="Calibri" pitchFamily="34" charset="-120"/>
              </a:rPr>
              <a:t>ECE</a:t>
            </a:r>
            <a:endParaRPr lang="en-US" sz="1200" dirty="0"/>
          </a:p>
        </p:txBody>
      </p:sp>
      <p:sp>
        <p:nvSpPr>
          <p:cNvPr id="38" name="Text 33"/>
          <p:cNvSpPr/>
          <p:nvPr/>
        </p:nvSpPr>
        <p:spPr>
          <a:xfrm>
            <a:off x="9784080" y="3044952"/>
            <a:ext cx="1581912" cy="292608"/>
          </a:xfrm>
          <a:prstGeom prst="rect">
            <a:avLst/>
          </a:prstGeom>
          <a:noFill/>
          <a:ln/>
        </p:spPr>
        <p:txBody>
          <a:bodyPr wrap="square" lIns="0" tIns="0" rIns="0" bIns="0" rtlCol="0" anchor="ctr"/>
          <a:lstStyle/>
          <a:p>
            <a:pPr algn="r" indent="0" marL="0">
              <a:buNone/>
            </a:pPr>
            <a:r>
              <a:rPr lang="en-US" sz="1350" b="1" dirty="0">
                <a:solidFill>
                  <a:srgbClr val="232634"/>
                </a:solidFill>
                <a:latin typeface="Calibri" pitchFamily="34" charset="0"/>
                <a:ea typeface="Calibri" pitchFamily="34" charset="-122"/>
                <a:cs typeface="Calibri" pitchFamily="34" charset="-120"/>
              </a:rPr>
              <a:t>0.117</a:t>
            </a:r>
            <a:endParaRPr lang="en-US" sz="1350" dirty="0"/>
          </a:p>
        </p:txBody>
      </p:sp>
      <p:sp>
        <p:nvSpPr>
          <p:cNvPr id="39" name="Text 34"/>
          <p:cNvSpPr/>
          <p:nvPr/>
        </p:nvSpPr>
        <p:spPr>
          <a:xfrm>
            <a:off x="8302752" y="3392424"/>
            <a:ext cx="1463040" cy="292608"/>
          </a:xfrm>
          <a:prstGeom prst="rect">
            <a:avLst/>
          </a:prstGeom>
          <a:noFill/>
          <a:ln/>
        </p:spPr>
        <p:txBody>
          <a:bodyPr wrap="square" lIns="0" tIns="0" rIns="0" bIns="0" rtlCol="0" anchor="ctr"/>
          <a:lstStyle/>
          <a:p>
            <a:pPr indent="0" marL="0">
              <a:buNone/>
            </a:pPr>
            <a:r>
              <a:rPr lang="en-US" sz="1200" dirty="0">
                <a:solidFill>
                  <a:srgbClr val="5A6178"/>
                </a:solidFill>
                <a:latin typeface="Calibri" pitchFamily="34" charset="0"/>
                <a:ea typeface="Calibri" pitchFamily="34" charset="-122"/>
                <a:cs typeface="Calibri" pitchFamily="34" charset="-120"/>
              </a:rPr>
              <a:t>Gap</a:t>
            </a:r>
            <a:endParaRPr lang="en-US" sz="1200" dirty="0"/>
          </a:p>
        </p:txBody>
      </p:sp>
      <p:sp>
        <p:nvSpPr>
          <p:cNvPr id="40" name="Text 35"/>
          <p:cNvSpPr/>
          <p:nvPr/>
        </p:nvSpPr>
        <p:spPr>
          <a:xfrm>
            <a:off x="9784080" y="3392424"/>
            <a:ext cx="1581912" cy="292608"/>
          </a:xfrm>
          <a:prstGeom prst="rect">
            <a:avLst/>
          </a:prstGeom>
          <a:noFill/>
          <a:ln/>
        </p:spPr>
        <p:txBody>
          <a:bodyPr wrap="square" lIns="0" tIns="0" rIns="0" bIns="0" rtlCol="0" anchor="ctr"/>
          <a:lstStyle/>
          <a:p>
            <a:pPr algn="r" indent="0" marL="0">
              <a:buNone/>
            </a:pPr>
            <a:r>
              <a:rPr lang="en-US" sz="1350" b="1" dirty="0">
                <a:solidFill>
                  <a:srgbClr val="232634"/>
                </a:solidFill>
                <a:latin typeface="Calibri" pitchFamily="34" charset="0"/>
                <a:ea typeface="Calibri" pitchFamily="34" charset="-122"/>
                <a:cs typeface="Calibri" pitchFamily="34" charset="-120"/>
              </a:rPr>
              <a:t>+0.115</a:t>
            </a:r>
            <a:endParaRPr lang="en-US" sz="1350" dirty="0"/>
          </a:p>
        </p:txBody>
      </p:sp>
      <p:sp>
        <p:nvSpPr>
          <p:cNvPr id="41" name="Shape 36"/>
          <p:cNvSpPr/>
          <p:nvPr/>
        </p:nvSpPr>
        <p:spPr>
          <a:xfrm>
            <a:off x="8302752" y="3785616"/>
            <a:ext cx="3081528" cy="0"/>
          </a:xfrm>
          <a:prstGeom prst="line">
            <a:avLst/>
          </a:prstGeom>
          <a:noFill/>
          <a:ln w="12700">
            <a:solidFill>
              <a:srgbClr val="D8DFF0"/>
            </a:solidFill>
            <a:prstDash val="solid"/>
          </a:ln>
        </p:spPr>
      </p:sp>
      <p:sp>
        <p:nvSpPr>
          <p:cNvPr id="42" name="Text 37"/>
          <p:cNvSpPr/>
          <p:nvPr/>
        </p:nvSpPr>
        <p:spPr>
          <a:xfrm>
            <a:off x="8302752" y="3922776"/>
            <a:ext cx="3081528" cy="2194560"/>
          </a:xfrm>
          <a:prstGeom prst="rect">
            <a:avLst/>
          </a:prstGeom>
          <a:noFill/>
          <a:ln/>
        </p:spPr>
        <p:txBody>
          <a:bodyPr wrap="square" lIns="0" tIns="0" rIns="0" bIns="0" rtlCol="0" anchor="ctr"/>
          <a:lstStyle/>
          <a:p>
            <a:pPr indent="0" marL="0">
              <a:buNone/>
            </a:pPr>
            <a:r>
              <a:rPr lang="en-US" sz="1150" dirty="0">
                <a:solidFill>
                  <a:srgbClr val="232634"/>
                </a:solidFill>
                <a:latin typeface="Calibri" pitchFamily="34" charset="0"/>
                <a:ea typeface="Calibri" pitchFamily="34" charset="-122"/>
                <a:cs typeface="Calibri" pitchFamily="34" charset="-120"/>
              </a:rPr>
              <a:t>Mean confidence of 99.2 with a standard deviation of 2.5. Stated confidence barely moves, so rising overconfidence comes almost entirely from falling accuracy.</a:t>
            </a:r>
            <a:endParaRPr lang="en-US" sz="1150" dirty="0"/>
          </a:p>
        </p:txBody>
      </p:sp>
      <p:sp>
        <p:nvSpPr>
          <p:cNvPr id="43" name="Text 38"/>
          <p:cNvSpPr/>
          <p:nvPr/>
        </p:nvSpPr>
        <p:spPr>
          <a:xfrm>
            <a:off x="640080" y="6355080"/>
            <a:ext cx="10881360" cy="457200"/>
          </a:xfrm>
          <a:prstGeom prst="rect">
            <a:avLst/>
          </a:prstGeom>
          <a:noFill/>
          <a:ln/>
        </p:spPr>
        <p:txBody>
          <a:bodyPr wrap="square" lIns="0" tIns="0" rIns="0" bIns="0" rtlCol="0" anchor="ctr"/>
          <a:lstStyle/>
          <a:p>
            <a:pPr algn="ctr" indent="0" marL="0">
              <a:buNone/>
            </a:pPr>
            <a:r>
              <a:rPr lang="en-US" sz="1050" i="1" dirty="0">
                <a:solidFill>
                  <a:srgbClr val="5A6178"/>
                </a:solidFill>
                <a:latin typeface="Calibri" pitchFamily="34" charset="0"/>
                <a:ea typeface="Calibri" pitchFamily="34" charset="-122"/>
                <a:cs typeface="Calibri" pitchFamily="34" charset="-120"/>
              </a:rPr>
              <a:t>All three difficulty effects stayed significant after Holm Bonferroni correction, and rankings held from the 180 item bank to the full 540 item bank.</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92608"/>
          </a:xfrm>
          <a:prstGeom prst="rect">
            <a:avLst/>
          </a:prstGeom>
          <a:noFill/>
          <a:ln/>
        </p:spPr>
        <p:txBody>
          <a:bodyPr wrap="square" lIns="0" tIns="0" rIns="0" bIns="0" rtlCol="0" anchor="ctr"/>
          <a:lstStyle/>
          <a:p>
            <a:pPr indent="0" marL="0">
              <a:buNone/>
            </a:pPr>
            <a:r>
              <a:rPr lang="en-US" sz="1250" b="1" spc="300" kern="0" dirty="0">
                <a:solidFill>
                  <a:srgbClr val="F96167"/>
                </a:solidFill>
                <a:latin typeface="Calibri" pitchFamily="34" charset="0"/>
                <a:ea typeface="Calibri" pitchFamily="34" charset="-122"/>
                <a:cs typeface="Calibri" pitchFamily="34" charset="-120"/>
              </a:rPr>
              <a:t>LIMITATIONS</a:t>
            </a:r>
            <a:endParaRPr lang="en-US" sz="12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Limitations of This Study</a:t>
            </a:r>
            <a:endParaRPr lang="en-US" sz="3200" dirty="0"/>
          </a:p>
        </p:txBody>
      </p:sp>
      <p:sp>
        <p:nvSpPr>
          <p:cNvPr id="4" name="Shape 2"/>
          <p:cNvSpPr/>
          <p:nvPr/>
        </p:nvSpPr>
        <p:spPr>
          <a:xfrm>
            <a:off x="640080" y="1691640"/>
            <a:ext cx="5349240" cy="1389888"/>
          </a:xfrm>
          <a:prstGeom prst="roundRect">
            <a:avLst>
              <a:gd name="adj" fmla="val 5263"/>
            </a:avLst>
          </a:prstGeom>
          <a:solidFill>
            <a:srgbClr val="F4F7FE"/>
          </a:solidFill>
          <a:ln/>
        </p:spPr>
      </p:sp>
      <p:sp>
        <p:nvSpPr>
          <p:cNvPr id="5" name="Shape 3"/>
          <p:cNvSpPr/>
          <p:nvPr/>
        </p:nvSpPr>
        <p:spPr>
          <a:xfrm>
            <a:off x="822960" y="1874520"/>
            <a:ext cx="438912" cy="438912"/>
          </a:xfrm>
          <a:prstGeom prst="ellipse">
            <a:avLst/>
          </a:prstGeom>
          <a:solidFill>
            <a:srgbClr val="CADCFC"/>
          </a:solidFill>
          <a:ln/>
        </p:spPr>
      </p:sp>
      <p:pic>
        <p:nvPicPr>
          <p:cNvPr id="6" name="Image 0" descr="preencoded.png">    </p:cNvPr>
          <p:cNvPicPr>
            <a:picLocks noChangeAspect="1"/>
          </p:cNvPicPr>
          <p:nvPr/>
        </p:nvPicPr>
        <p:blipFill>
          <a:blip r:embed="rId1"/>
          <a:stretch>
            <a:fillRect/>
          </a:stretch>
        </p:blipFill>
        <p:spPr>
          <a:xfrm>
            <a:off x="919521" y="1971081"/>
            <a:ext cx="245791" cy="245791"/>
          </a:xfrm>
          <a:prstGeom prst="rect">
            <a:avLst/>
          </a:prstGeom>
        </p:spPr>
      </p:pic>
      <p:sp>
        <p:nvSpPr>
          <p:cNvPr id="7" name="Text 4"/>
          <p:cNvSpPr/>
          <p:nvPr/>
        </p:nvSpPr>
        <p:spPr>
          <a:xfrm>
            <a:off x="1417320" y="1837944"/>
            <a:ext cx="4389120" cy="292608"/>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Multiple-choice only</a:t>
            </a:r>
            <a:endParaRPr lang="en-US" sz="1400" dirty="0"/>
          </a:p>
        </p:txBody>
      </p:sp>
      <p:sp>
        <p:nvSpPr>
          <p:cNvPr id="8" name="Text 5"/>
          <p:cNvSpPr/>
          <p:nvPr/>
        </p:nvSpPr>
        <p:spPr>
          <a:xfrm>
            <a:off x="1417320" y="2148840"/>
            <a:ext cx="4389120" cy="868680"/>
          </a:xfrm>
          <a:prstGeom prst="rect">
            <a:avLst/>
          </a:prstGeom>
          <a:noFill/>
          <a:ln/>
        </p:spPr>
        <p:txBody>
          <a:bodyPr wrap="square" lIns="0" tIns="0" rIns="0" bIns="0" rtlCol="0" anchor="ctr"/>
          <a:lstStyle/>
          <a:p>
            <a:pPr indent="0" marL="0">
              <a:buNone/>
            </a:pPr>
            <a:r>
              <a:rPr lang="en-US" sz="1100" dirty="0">
                <a:solidFill>
                  <a:srgbClr val="232634"/>
                </a:solidFill>
                <a:latin typeface="Calibri" pitchFamily="34" charset="0"/>
                <a:ea typeface="Calibri" pitchFamily="34" charset="-122"/>
                <a:cs typeface="Calibri" pitchFamily="34" charset="-120"/>
              </a:rPr>
              <a:t>MMLU items only. Findings may not generalize to open ended generation or tool using agents.</a:t>
            </a:r>
            <a:endParaRPr lang="en-US" sz="1100" dirty="0"/>
          </a:p>
        </p:txBody>
      </p:sp>
      <p:sp>
        <p:nvSpPr>
          <p:cNvPr id="9" name="Shape 6"/>
          <p:cNvSpPr/>
          <p:nvPr/>
        </p:nvSpPr>
        <p:spPr>
          <a:xfrm>
            <a:off x="6172200" y="1691640"/>
            <a:ext cx="5349240" cy="1389888"/>
          </a:xfrm>
          <a:prstGeom prst="roundRect">
            <a:avLst>
              <a:gd name="adj" fmla="val 5263"/>
            </a:avLst>
          </a:prstGeom>
          <a:solidFill>
            <a:srgbClr val="F4F7FE"/>
          </a:solidFill>
          <a:ln/>
        </p:spPr>
      </p:sp>
      <p:sp>
        <p:nvSpPr>
          <p:cNvPr id="10" name="Shape 7"/>
          <p:cNvSpPr/>
          <p:nvPr/>
        </p:nvSpPr>
        <p:spPr>
          <a:xfrm>
            <a:off x="6355080" y="1874520"/>
            <a:ext cx="438912" cy="438912"/>
          </a:xfrm>
          <a:prstGeom prst="ellipse">
            <a:avLst/>
          </a:prstGeom>
          <a:solidFill>
            <a:srgbClr val="CADCFC"/>
          </a:solidFill>
          <a:ln/>
        </p:spPr>
      </p:sp>
      <p:pic>
        <p:nvPicPr>
          <p:cNvPr id="11" name="Image 1" descr="preencoded.png">    </p:cNvPr>
          <p:cNvPicPr>
            <a:picLocks noChangeAspect="1"/>
          </p:cNvPicPr>
          <p:nvPr/>
        </p:nvPicPr>
        <p:blipFill>
          <a:blip r:embed="rId2"/>
          <a:stretch>
            <a:fillRect/>
          </a:stretch>
        </p:blipFill>
        <p:spPr>
          <a:xfrm>
            <a:off x="6451641" y="1971081"/>
            <a:ext cx="245791" cy="245791"/>
          </a:xfrm>
          <a:prstGeom prst="rect">
            <a:avLst/>
          </a:prstGeom>
        </p:spPr>
      </p:pic>
      <p:sp>
        <p:nvSpPr>
          <p:cNvPr id="12" name="Text 8"/>
          <p:cNvSpPr/>
          <p:nvPr/>
        </p:nvSpPr>
        <p:spPr>
          <a:xfrm>
            <a:off x="6949440" y="1837944"/>
            <a:ext cx="4389120" cy="292608"/>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Subject-level difficulty</a:t>
            </a:r>
            <a:endParaRPr lang="en-US" sz="1400" dirty="0"/>
          </a:p>
        </p:txBody>
      </p:sp>
      <p:sp>
        <p:nvSpPr>
          <p:cNvPr id="13" name="Text 9"/>
          <p:cNvSpPr/>
          <p:nvPr/>
        </p:nvSpPr>
        <p:spPr>
          <a:xfrm>
            <a:off x="6949440" y="2148840"/>
            <a:ext cx="4389120" cy="868680"/>
          </a:xfrm>
          <a:prstGeom prst="rect">
            <a:avLst/>
          </a:prstGeom>
          <a:noFill/>
          <a:ln/>
        </p:spPr>
        <p:txBody>
          <a:bodyPr wrap="square" lIns="0" tIns="0" rIns="0" bIns="0" rtlCol="0" anchor="ctr"/>
          <a:lstStyle/>
          <a:p>
            <a:pPr indent="0" marL="0">
              <a:buNone/>
            </a:pPr>
            <a:r>
              <a:rPr lang="en-US" sz="1100" dirty="0">
                <a:solidFill>
                  <a:srgbClr val="232634"/>
                </a:solidFill>
                <a:latin typeface="Calibri" pitchFamily="34" charset="0"/>
                <a:ea typeface="Calibri" pitchFamily="34" charset="-122"/>
                <a:cs typeface="Calibri" pitchFamily="34" charset="-120"/>
              </a:rPr>
              <a:t>Tiers come from a subject level mapping fixed in advance rather than item level IRT. One duplicate pair (q0060/q0073) was kept for archival comparability.</a:t>
            </a:r>
            <a:endParaRPr lang="en-US" sz="1100" dirty="0"/>
          </a:p>
        </p:txBody>
      </p:sp>
      <p:sp>
        <p:nvSpPr>
          <p:cNvPr id="14" name="Shape 10"/>
          <p:cNvSpPr/>
          <p:nvPr/>
        </p:nvSpPr>
        <p:spPr>
          <a:xfrm>
            <a:off x="640080" y="3264408"/>
            <a:ext cx="5349240" cy="1389888"/>
          </a:xfrm>
          <a:prstGeom prst="roundRect">
            <a:avLst>
              <a:gd name="adj" fmla="val 5263"/>
            </a:avLst>
          </a:prstGeom>
          <a:solidFill>
            <a:srgbClr val="F4F7FE"/>
          </a:solidFill>
          <a:ln/>
        </p:spPr>
      </p:sp>
      <p:sp>
        <p:nvSpPr>
          <p:cNvPr id="15" name="Shape 11"/>
          <p:cNvSpPr/>
          <p:nvPr/>
        </p:nvSpPr>
        <p:spPr>
          <a:xfrm>
            <a:off x="822960" y="3447288"/>
            <a:ext cx="438912" cy="438912"/>
          </a:xfrm>
          <a:prstGeom prst="ellipse">
            <a:avLst/>
          </a:prstGeom>
          <a:solidFill>
            <a:srgbClr val="CADCFC"/>
          </a:solidFill>
          <a:ln/>
        </p:spPr>
      </p:sp>
      <p:pic>
        <p:nvPicPr>
          <p:cNvPr id="16" name="Image 2" descr="preencoded.png">    </p:cNvPr>
          <p:cNvPicPr>
            <a:picLocks noChangeAspect="1"/>
          </p:cNvPicPr>
          <p:nvPr/>
        </p:nvPicPr>
        <p:blipFill>
          <a:blip r:embed="rId3"/>
          <a:stretch>
            <a:fillRect/>
          </a:stretch>
        </p:blipFill>
        <p:spPr>
          <a:xfrm>
            <a:off x="919521" y="3543849"/>
            <a:ext cx="245791" cy="245791"/>
          </a:xfrm>
          <a:prstGeom prst="rect">
            <a:avLst/>
          </a:prstGeom>
        </p:spPr>
      </p:pic>
      <p:sp>
        <p:nvSpPr>
          <p:cNvPr id="17" name="Text 12"/>
          <p:cNvSpPr/>
          <p:nvPr/>
        </p:nvSpPr>
        <p:spPr>
          <a:xfrm>
            <a:off x="1417320" y="3410712"/>
            <a:ext cx="4389120" cy="292608"/>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Verbal-first confidence</a:t>
            </a:r>
            <a:endParaRPr lang="en-US" sz="1400" dirty="0"/>
          </a:p>
        </p:txBody>
      </p:sp>
      <p:sp>
        <p:nvSpPr>
          <p:cNvPr id="18" name="Text 13"/>
          <p:cNvSpPr/>
          <p:nvPr/>
        </p:nvSpPr>
        <p:spPr>
          <a:xfrm>
            <a:off x="1417320" y="3721608"/>
            <a:ext cx="4389120" cy="868680"/>
          </a:xfrm>
          <a:prstGeom prst="rect">
            <a:avLst/>
          </a:prstGeom>
          <a:noFill/>
          <a:ln/>
        </p:spPr>
        <p:txBody>
          <a:bodyPr wrap="square" lIns="0" tIns="0" rIns="0" bIns="0" rtlCol="0" anchor="ctr"/>
          <a:lstStyle/>
          <a:p>
            <a:pPr indent="0" marL="0">
              <a:buNone/>
            </a:pPr>
            <a:r>
              <a:rPr lang="en-US" sz="1100" dirty="0">
                <a:solidFill>
                  <a:srgbClr val="232634"/>
                </a:solidFill>
                <a:latin typeface="Calibri" pitchFamily="34" charset="0"/>
                <a:ea typeface="Calibri" pitchFamily="34" charset="-122"/>
                <a:cs typeface="Calibri" pitchFamily="34" charset="-120"/>
              </a:rPr>
              <a:t>Internal token probabilities were available only for GPT-4o-mini. Claude and Gemini are excluded from that comparison because of API design, not data loss.</a:t>
            </a:r>
            <a:endParaRPr lang="en-US" sz="1100" dirty="0"/>
          </a:p>
        </p:txBody>
      </p:sp>
      <p:sp>
        <p:nvSpPr>
          <p:cNvPr id="19" name="Shape 14"/>
          <p:cNvSpPr/>
          <p:nvPr/>
        </p:nvSpPr>
        <p:spPr>
          <a:xfrm>
            <a:off x="6172200" y="3264408"/>
            <a:ext cx="5349240" cy="1389888"/>
          </a:xfrm>
          <a:prstGeom prst="roundRect">
            <a:avLst>
              <a:gd name="adj" fmla="val 5263"/>
            </a:avLst>
          </a:prstGeom>
          <a:solidFill>
            <a:srgbClr val="F4F7FE"/>
          </a:solidFill>
          <a:ln/>
        </p:spPr>
      </p:sp>
      <p:sp>
        <p:nvSpPr>
          <p:cNvPr id="20" name="Shape 15"/>
          <p:cNvSpPr/>
          <p:nvPr/>
        </p:nvSpPr>
        <p:spPr>
          <a:xfrm>
            <a:off x="6355080" y="3447288"/>
            <a:ext cx="438912" cy="438912"/>
          </a:xfrm>
          <a:prstGeom prst="ellipse">
            <a:avLst/>
          </a:prstGeom>
          <a:solidFill>
            <a:srgbClr val="FDE3E4"/>
          </a:solidFill>
          <a:ln/>
        </p:spPr>
      </p:sp>
      <p:pic>
        <p:nvPicPr>
          <p:cNvPr id="21" name="Image 3" descr="preencoded.png">    </p:cNvPr>
          <p:cNvPicPr>
            <a:picLocks noChangeAspect="1"/>
          </p:cNvPicPr>
          <p:nvPr/>
        </p:nvPicPr>
        <p:blipFill>
          <a:blip r:embed="rId4"/>
          <a:stretch>
            <a:fillRect/>
          </a:stretch>
        </p:blipFill>
        <p:spPr>
          <a:xfrm>
            <a:off x="6451641" y="3543849"/>
            <a:ext cx="245791" cy="245791"/>
          </a:xfrm>
          <a:prstGeom prst="rect">
            <a:avLst/>
          </a:prstGeom>
        </p:spPr>
      </p:pic>
      <p:sp>
        <p:nvSpPr>
          <p:cNvPr id="22" name="Text 16"/>
          <p:cNvSpPr/>
          <p:nvPr/>
        </p:nvSpPr>
        <p:spPr>
          <a:xfrm>
            <a:off x="6949440" y="3410712"/>
            <a:ext cx="4389120" cy="292608"/>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Constrained format</a:t>
            </a:r>
            <a:endParaRPr lang="en-US" sz="1400" dirty="0"/>
          </a:p>
        </p:txBody>
      </p:sp>
      <p:sp>
        <p:nvSpPr>
          <p:cNvPr id="23" name="Text 17"/>
          <p:cNvSpPr/>
          <p:nvPr/>
        </p:nvSpPr>
        <p:spPr>
          <a:xfrm>
            <a:off x="6949440" y="3721608"/>
            <a:ext cx="4389120" cy="868680"/>
          </a:xfrm>
          <a:prstGeom prst="rect">
            <a:avLst/>
          </a:prstGeom>
          <a:noFill/>
          <a:ln/>
        </p:spPr>
        <p:txBody>
          <a:bodyPr wrap="square" lIns="0" tIns="0" rIns="0" bIns="0" rtlCol="0" anchor="ctr"/>
          <a:lstStyle/>
          <a:p>
            <a:pPr indent="0" marL="0">
              <a:buNone/>
            </a:pPr>
            <a:r>
              <a:rPr lang="en-US" sz="1100" dirty="0">
                <a:solidFill>
                  <a:srgbClr val="232634"/>
                </a:solidFill>
                <a:latin typeface="Calibri" pitchFamily="34" charset="0"/>
                <a:ea typeface="Calibri" pitchFamily="34" charset="-122"/>
                <a:cs typeface="Calibri" pitchFamily="34" charset="-120"/>
              </a:rPr>
              <a:t>The locked ANSWER/CONFIDENCE format suppresses chain of thought and may lower absolute accuracy compared to CoT leaderboards. Claims concern calibration under this protocol.</a:t>
            </a:r>
            <a:endParaRPr lang="en-US" sz="1100" dirty="0"/>
          </a:p>
        </p:txBody>
      </p:sp>
      <p:sp>
        <p:nvSpPr>
          <p:cNvPr id="24" name="Shape 18"/>
          <p:cNvSpPr/>
          <p:nvPr/>
        </p:nvSpPr>
        <p:spPr>
          <a:xfrm>
            <a:off x="640080" y="4837176"/>
            <a:ext cx="5349240" cy="1389888"/>
          </a:xfrm>
          <a:prstGeom prst="roundRect">
            <a:avLst>
              <a:gd name="adj" fmla="val 5263"/>
            </a:avLst>
          </a:prstGeom>
          <a:solidFill>
            <a:srgbClr val="F4F7FE"/>
          </a:solidFill>
          <a:ln/>
        </p:spPr>
      </p:sp>
      <p:sp>
        <p:nvSpPr>
          <p:cNvPr id="25" name="Shape 19"/>
          <p:cNvSpPr/>
          <p:nvPr/>
        </p:nvSpPr>
        <p:spPr>
          <a:xfrm>
            <a:off x="822960" y="5020056"/>
            <a:ext cx="438912" cy="438912"/>
          </a:xfrm>
          <a:prstGeom prst="ellipse">
            <a:avLst/>
          </a:prstGeom>
          <a:solidFill>
            <a:srgbClr val="CADCFC"/>
          </a:solidFill>
          <a:ln/>
        </p:spPr>
      </p:sp>
      <p:pic>
        <p:nvPicPr>
          <p:cNvPr id="26" name="Image 4" descr="preencoded.png">    </p:cNvPr>
          <p:cNvPicPr>
            <a:picLocks noChangeAspect="1"/>
          </p:cNvPicPr>
          <p:nvPr/>
        </p:nvPicPr>
        <p:blipFill>
          <a:blip r:embed="rId5"/>
          <a:stretch>
            <a:fillRect/>
          </a:stretch>
        </p:blipFill>
        <p:spPr>
          <a:xfrm>
            <a:off x="919521" y="5116617"/>
            <a:ext cx="245791" cy="245791"/>
          </a:xfrm>
          <a:prstGeom prst="rect">
            <a:avLst/>
          </a:prstGeom>
        </p:spPr>
      </p:pic>
      <p:sp>
        <p:nvSpPr>
          <p:cNvPr id="27" name="Text 20"/>
          <p:cNvSpPr/>
          <p:nvPr/>
        </p:nvSpPr>
        <p:spPr>
          <a:xfrm>
            <a:off x="1417320" y="4983480"/>
            <a:ext cx="4389120" cy="292608"/>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No human baseline</a:t>
            </a:r>
            <a:endParaRPr lang="en-US" sz="1400" dirty="0"/>
          </a:p>
        </p:txBody>
      </p:sp>
      <p:sp>
        <p:nvSpPr>
          <p:cNvPr id="28" name="Text 21"/>
          <p:cNvSpPr/>
          <p:nvPr/>
        </p:nvSpPr>
        <p:spPr>
          <a:xfrm>
            <a:off x="1417320" y="5294376"/>
            <a:ext cx="4389120" cy="868680"/>
          </a:xfrm>
          <a:prstGeom prst="rect">
            <a:avLst/>
          </a:prstGeom>
          <a:noFill/>
          <a:ln/>
        </p:spPr>
        <p:txBody>
          <a:bodyPr wrap="square" lIns="0" tIns="0" rIns="0" bIns="0" rtlCol="0" anchor="ctr"/>
          <a:lstStyle/>
          <a:p>
            <a:pPr indent="0" marL="0">
              <a:buNone/>
            </a:pPr>
            <a:r>
              <a:rPr lang="en-US" sz="1100" dirty="0">
                <a:solidFill>
                  <a:srgbClr val="232634"/>
                </a:solidFill>
                <a:latin typeface="Calibri" pitchFamily="34" charset="0"/>
                <a:ea typeface="Calibri" pitchFamily="34" charset="-122"/>
                <a:cs typeface="Calibri" pitchFamily="34" charset="-120"/>
              </a:rPr>
              <a:t>No open weight local models and no formal human subjects arm were included in this submission.</a:t>
            </a:r>
            <a:endParaRPr lang="en-US" sz="1100" dirty="0"/>
          </a:p>
        </p:txBody>
      </p:sp>
      <p:sp>
        <p:nvSpPr>
          <p:cNvPr id="29" name="Shape 22"/>
          <p:cNvSpPr/>
          <p:nvPr/>
        </p:nvSpPr>
        <p:spPr>
          <a:xfrm>
            <a:off x="6172200" y="4837176"/>
            <a:ext cx="5349240" cy="1389888"/>
          </a:xfrm>
          <a:prstGeom prst="roundRect">
            <a:avLst>
              <a:gd name="adj" fmla="val 5263"/>
            </a:avLst>
          </a:prstGeom>
          <a:solidFill>
            <a:srgbClr val="F4F7FE"/>
          </a:solidFill>
          <a:ln/>
        </p:spPr>
      </p:sp>
      <p:sp>
        <p:nvSpPr>
          <p:cNvPr id="30" name="Shape 23"/>
          <p:cNvSpPr/>
          <p:nvPr/>
        </p:nvSpPr>
        <p:spPr>
          <a:xfrm>
            <a:off x="6355080" y="5020056"/>
            <a:ext cx="438912" cy="438912"/>
          </a:xfrm>
          <a:prstGeom prst="ellipse">
            <a:avLst/>
          </a:prstGeom>
          <a:solidFill>
            <a:srgbClr val="CADCFC"/>
          </a:solidFill>
          <a:ln/>
        </p:spPr>
      </p:sp>
      <p:pic>
        <p:nvPicPr>
          <p:cNvPr id="31" name="Image 5" descr="preencoded.png">    </p:cNvPr>
          <p:cNvPicPr>
            <a:picLocks noChangeAspect="1"/>
          </p:cNvPicPr>
          <p:nvPr/>
        </p:nvPicPr>
        <p:blipFill>
          <a:blip r:embed="rId6"/>
          <a:stretch>
            <a:fillRect/>
          </a:stretch>
        </p:blipFill>
        <p:spPr>
          <a:xfrm>
            <a:off x="6451641" y="5116617"/>
            <a:ext cx="245791" cy="245791"/>
          </a:xfrm>
          <a:prstGeom prst="rect">
            <a:avLst/>
          </a:prstGeom>
        </p:spPr>
      </p:pic>
      <p:sp>
        <p:nvSpPr>
          <p:cNvPr id="32" name="Text 24"/>
          <p:cNvSpPr/>
          <p:nvPr/>
        </p:nvSpPr>
        <p:spPr>
          <a:xfrm>
            <a:off x="6949440" y="4983480"/>
            <a:ext cx="4389120" cy="292608"/>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Setting-specific</a:t>
            </a:r>
            <a:endParaRPr lang="en-US" sz="1400" dirty="0"/>
          </a:p>
        </p:txBody>
      </p:sp>
      <p:sp>
        <p:nvSpPr>
          <p:cNvPr id="33" name="Text 25"/>
          <p:cNvSpPr/>
          <p:nvPr/>
        </p:nvSpPr>
        <p:spPr>
          <a:xfrm>
            <a:off x="6949440" y="5294376"/>
            <a:ext cx="4389120" cy="868680"/>
          </a:xfrm>
          <a:prstGeom prst="rect">
            <a:avLst/>
          </a:prstGeom>
          <a:noFill/>
          <a:ln/>
        </p:spPr>
        <p:txBody>
          <a:bodyPr wrap="square" lIns="0" tIns="0" rIns="0" bIns="0" rtlCol="0" anchor="ctr"/>
          <a:lstStyle/>
          <a:p>
            <a:pPr indent="0" marL="0">
              <a:buNone/>
            </a:pPr>
            <a:r>
              <a:rPr lang="en-US" sz="1100" dirty="0">
                <a:solidFill>
                  <a:srgbClr val="232634"/>
                </a:solidFill>
                <a:latin typeface="Calibri" pitchFamily="34" charset="0"/>
                <a:ea typeface="Calibri" pitchFamily="34" charset="-122"/>
                <a:cs typeface="Calibri" pitchFamily="34" charset="-120"/>
              </a:rPr>
              <a:t>Results are specific to temperature 0.3, five trials, 1,024 max tokens, this 540 item bank, and July 2026 model versions.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92608"/>
          </a:xfrm>
          <a:prstGeom prst="rect">
            <a:avLst/>
          </a:prstGeom>
          <a:noFill/>
          <a:ln/>
        </p:spPr>
        <p:txBody>
          <a:bodyPr wrap="square" lIns="0" tIns="0" rIns="0" bIns="0" rtlCol="0" anchor="ctr"/>
          <a:lstStyle/>
          <a:p>
            <a:pPr indent="0" marL="0">
              <a:buNone/>
            </a:pPr>
            <a:r>
              <a:rPr lang="en-US" sz="1250" b="1" spc="300" kern="0" dirty="0">
                <a:solidFill>
                  <a:srgbClr val="F96167"/>
                </a:solidFill>
                <a:latin typeface="Calibri" pitchFamily="34" charset="0"/>
                <a:ea typeface="Calibri" pitchFamily="34" charset="-122"/>
                <a:cs typeface="Calibri" pitchFamily="34" charset="-120"/>
              </a:rPr>
              <a:t>CONCLUSIONS AND FURTHER UNDERSTANDING</a:t>
            </a:r>
            <a:endParaRPr lang="en-US" sz="125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Confidence Should Support Verification, Not Replace It</a:t>
            </a:r>
            <a:endParaRPr lang="en-US" sz="3200" dirty="0"/>
          </a:p>
        </p:txBody>
      </p:sp>
      <p:sp>
        <p:nvSpPr>
          <p:cNvPr id="4" name="Shape 2"/>
          <p:cNvSpPr/>
          <p:nvPr/>
        </p:nvSpPr>
        <p:spPr>
          <a:xfrm>
            <a:off x="640080" y="1645920"/>
            <a:ext cx="5943600" cy="4846320"/>
          </a:xfrm>
          <a:prstGeom prst="roundRect">
            <a:avLst>
              <a:gd name="adj" fmla="val 1698"/>
            </a:avLst>
          </a:prstGeom>
          <a:solidFill>
            <a:srgbClr val="1E2761"/>
          </a:solidFill>
          <a:ln/>
        </p:spPr>
      </p:sp>
      <p:sp>
        <p:nvSpPr>
          <p:cNvPr id="5" name="Text 3"/>
          <p:cNvSpPr/>
          <p:nvPr/>
        </p:nvSpPr>
        <p:spPr>
          <a:xfrm>
            <a:off x="914400" y="1874520"/>
            <a:ext cx="5394960" cy="292608"/>
          </a:xfrm>
          <a:prstGeom prst="rect">
            <a:avLst/>
          </a:prstGeom>
          <a:noFill/>
          <a:ln/>
        </p:spPr>
        <p:txBody>
          <a:bodyPr wrap="square" lIns="0" tIns="0" rIns="0" bIns="0" rtlCol="0" anchor="ctr"/>
          <a:lstStyle/>
          <a:p>
            <a:pPr indent="0" marL="0">
              <a:buNone/>
            </a:pPr>
            <a:r>
              <a:rPr lang="en-US" sz="1250" b="1" spc="200" kern="0" dirty="0">
                <a:solidFill>
                  <a:srgbClr val="CADCFC"/>
                </a:solidFill>
                <a:latin typeface="Calibri" pitchFamily="34" charset="0"/>
                <a:ea typeface="Calibri" pitchFamily="34" charset="-122"/>
                <a:cs typeface="Calibri" pitchFamily="34" charset="-120"/>
              </a:rPr>
              <a:t>CONCLUSIONS</a:t>
            </a:r>
            <a:endParaRPr lang="en-US" sz="1250" dirty="0"/>
          </a:p>
        </p:txBody>
      </p:sp>
      <p:sp>
        <p:nvSpPr>
          <p:cNvPr id="6" name="Text 4"/>
          <p:cNvSpPr/>
          <p:nvPr/>
        </p:nvSpPr>
        <p:spPr>
          <a:xfrm>
            <a:off x="914400" y="2286000"/>
            <a:ext cx="5349240" cy="4023360"/>
          </a:xfrm>
          <a:prstGeom prst="rect">
            <a:avLst/>
          </a:prstGeom>
          <a:noFill/>
          <a:ln/>
        </p:spPr>
        <p:txBody>
          <a:bodyPr wrap="square" lIns="0" tIns="0" rIns="0" bIns="0" rtlCol="0" anchor="ctr"/>
          <a:lstStyle/>
          <a:p>
            <a:pPr marL="342900" indent="-342900">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All three models become more overconfident as difficulty rises. Accuracy drops on hard questions but stated confidence does not follow.</a:t>
            </a:r>
            <a:endParaRPr lang="en-US" sz="1400" dirty="0"/>
          </a:p>
          <a:p>
            <a:pPr marL="342900" indent="-342900">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Claude Haiku stays close to calibrated. GPT-4o-mini shows the steepest difficulty linked overconfidence. Gemini pairs high accuracy with confidence collapse.</a:t>
            </a:r>
            <a:endParaRPr lang="en-US" sz="1400" dirty="0"/>
          </a:p>
          <a:p>
            <a:pPr marL="342900" indent="-342900">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For GPT-4o-mini, verbal and internal confidence correlate only weakly, and neither one is a complete reliability measure.</a:t>
            </a:r>
            <a:endParaRPr lang="en-US" sz="1400" dirty="0"/>
          </a:p>
          <a:p>
            <a:pPr marL="342900" indent="-342900">
              <a:buSzPct val="100000"/>
              <a:buChar char="•"/>
            </a:pPr>
            <a:r>
              <a:rPr lang="en-US" sz="1400" dirty="0">
                <a:solidFill>
                  <a:srgbClr val="FFFFFF"/>
                </a:solidFill>
                <a:latin typeface="Calibri" pitchFamily="34" charset="0"/>
                <a:ea typeface="Calibri" pitchFamily="34" charset="-122"/>
                <a:cs typeface="Calibri" pitchFamily="34" charset="-120"/>
              </a:rPr>
              <a:t>Calibration should be judged where models are most likely to fail, on hard items, not just where average performance looks strong.</a:t>
            </a:r>
            <a:endParaRPr lang="en-US" sz="1400" dirty="0"/>
          </a:p>
        </p:txBody>
      </p:sp>
      <p:sp>
        <p:nvSpPr>
          <p:cNvPr id="7" name="Text 5"/>
          <p:cNvSpPr/>
          <p:nvPr/>
        </p:nvSpPr>
        <p:spPr>
          <a:xfrm>
            <a:off x="6858000" y="1691640"/>
            <a:ext cx="4663440" cy="292608"/>
          </a:xfrm>
          <a:prstGeom prst="rect">
            <a:avLst/>
          </a:prstGeom>
          <a:noFill/>
          <a:ln/>
        </p:spPr>
        <p:txBody>
          <a:bodyPr wrap="square" lIns="0" tIns="0" rIns="0" bIns="0" rtlCol="0" anchor="ctr"/>
          <a:lstStyle/>
          <a:p>
            <a:pPr indent="0" marL="0">
              <a:buNone/>
            </a:pPr>
            <a:r>
              <a:rPr lang="en-US" sz="1250" b="1" spc="200" kern="0" dirty="0">
                <a:solidFill>
                  <a:srgbClr val="F96167"/>
                </a:solidFill>
                <a:latin typeface="Calibri" pitchFamily="34" charset="0"/>
                <a:ea typeface="Calibri" pitchFamily="34" charset="-122"/>
                <a:cs typeface="Calibri" pitchFamily="34" charset="-120"/>
              </a:rPr>
              <a:t>FURTHER UNDERSTANDING AND NEXT STEPS</a:t>
            </a:r>
            <a:endParaRPr lang="en-US" sz="1250" dirty="0"/>
          </a:p>
        </p:txBody>
      </p:sp>
      <p:sp>
        <p:nvSpPr>
          <p:cNvPr id="8" name="Shape 6"/>
          <p:cNvSpPr/>
          <p:nvPr/>
        </p:nvSpPr>
        <p:spPr>
          <a:xfrm>
            <a:off x="6858000" y="2103120"/>
            <a:ext cx="457200" cy="457200"/>
          </a:xfrm>
          <a:prstGeom prst="ellipse">
            <a:avLst/>
          </a:prstGeom>
          <a:solidFill>
            <a:srgbClr val="CADCFC"/>
          </a:solidFill>
          <a:ln/>
        </p:spPr>
      </p:sp>
      <p:pic>
        <p:nvPicPr>
          <p:cNvPr id="9" name="Image 0" descr="preencoded.png">    </p:cNvPr>
          <p:cNvPicPr>
            <a:picLocks noChangeAspect="1"/>
          </p:cNvPicPr>
          <p:nvPr/>
        </p:nvPicPr>
        <p:blipFill>
          <a:blip r:embed="rId1"/>
          <a:stretch>
            <a:fillRect/>
          </a:stretch>
        </p:blipFill>
        <p:spPr>
          <a:xfrm>
            <a:off x="6958584" y="2203704"/>
            <a:ext cx="256032" cy="256032"/>
          </a:xfrm>
          <a:prstGeom prst="rect">
            <a:avLst/>
          </a:prstGeom>
        </p:spPr>
      </p:pic>
      <p:sp>
        <p:nvSpPr>
          <p:cNvPr id="10" name="Text 7"/>
          <p:cNvSpPr/>
          <p:nvPr/>
        </p:nvSpPr>
        <p:spPr>
          <a:xfrm>
            <a:off x="7498080" y="2084832"/>
            <a:ext cx="4023360" cy="777240"/>
          </a:xfrm>
          <a:prstGeom prst="rect">
            <a:avLst/>
          </a:prstGeom>
          <a:noFill/>
          <a:ln/>
        </p:spPr>
        <p:txBody>
          <a:bodyPr wrap="square" lIns="0" tIns="0" rIns="0" bIns="0" rtlCol="0" anchor="ctr"/>
          <a:lstStyle/>
          <a:p>
            <a:pPr indent="0" marL="0">
              <a:buNone/>
            </a:pPr>
            <a:r>
              <a:rPr lang="en-US" sz="1250" dirty="0">
                <a:solidFill>
                  <a:srgbClr val="232634"/>
                </a:solidFill>
                <a:latin typeface="Calibri" pitchFamily="34" charset="0"/>
                <a:ea typeface="Calibri" pitchFamily="34" charset="-122"/>
                <a:cs typeface="Calibri" pitchFamily="34" charset="-120"/>
              </a:rPr>
              <a:t>Extend the study to harder benchmarks such as MMLU-Pro and GPQA.</a:t>
            </a:r>
            <a:endParaRPr lang="en-US" sz="1250" dirty="0"/>
          </a:p>
        </p:txBody>
      </p:sp>
      <p:sp>
        <p:nvSpPr>
          <p:cNvPr id="11" name="Shape 8"/>
          <p:cNvSpPr/>
          <p:nvPr/>
        </p:nvSpPr>
        <p:spPr>
          <a:xfrm>
            <a:off x="6858000" y="2999232"/>
            <a:ext cx="457200" cy="457200"/>
          </a:xfrm>
          <a:prstGeom prst="ellipse">
            <a:avLst/>
          </a:prstGeom>
          <a:solidFill>
            <a:srgbClr val="CADCFC"/>
          </a:solidFill>
          <a:ln/>
        </p:spPr>
      </p:sp>
      <p:pic>
        <p:nvPicPr>
          <p:cNvPr id="12" name="Image 1" descr="preencoded.png">    </p:cNvPr>
          <p:cNvPicPr>
            <a:picLocks noChangeAspect="1"/>
          </p:cNvPicPr>
          <p:nvPr/>
        </p:nvPicPr>
        <p:blipFill>
          <a:blip r:embed="rId2"/>
          <a:stretch>
            <a:fillRect/>
          </a:stretch>
        </p:blipFill>
        <p:spPr>
          <a:xfrm>
            <a:off x="6958584" y="3099816"/>
            <a:ext cx="256032" cy="256032"/>
          </a:xfrm>
          <a:prstGeom prst="rect">
            <a:avLst/>
          </a:prstGeom>
        </p:spPr>
      </p:pic>
      <p:sp>
        <p:nvSpPr>
          <p:cNvPr id="13" name="Text 9"/>
          <p:cNvSpPr/>
          <p:nvPr/>
        </p:nvSpPr>
        <p:spPr>
          <a:xfrm>
            <a:off x="7498080" y="2980944"/>
            <a:ext cx="4023360" cy="777240"/>
          </a:xfrm>
          <a:prstGeom prst="rect">
            <a:avLst/>
          </a:prstGeom>
          <a:noFill/>
          <a:ln/>
        </p:spPr>
        <p:txBody>
          <a:bodyPr wrap="square" lIns="0" tIns="0" rIns="0" bIns="0" rtlCol="0" anchor="ctr"/>
          <a:lstStyle/>
          <a:p>
            <a:pPr indent="0" marL="0">
              <a:buNone/>
            </a:pPr>
            <a:r>
              <a:rPr lang="en-US" sz="1250" dirty="0">
                <a:solidFill>
                  <a:srgbClr val="232634"/>
                </a:solidFill>
                <a:latin typeface="Calibri" pitchFamily="34" charset="0"/>
                <a:ea typeface="Calibri" pitchFamily="34" charset="-122"/>
                <a:cs typeface="Calibri" pitchFamily="34" charset="-120"/>
              </a:rPr>
              <a:t>Add open weight local models like Llama and Mistral under the same locked protocol.</a:t>
            </a:r>
            <a:endParaRPr lang="en-US" sz="1250" dirty="0"/>
          </a:p>
        </p:txBody>
      </p:sp>
      <p:sp>
        <p:nvSpPr>
          <p:cNvPr id="14" name="Shape 10"/>
          <p:cNvSpPr/>
          <p:nvPr/>
        </p:nvSpPr>
        <p:spPr>
          <a:xfrm>
            <a:off x="6858000" y="3895344"/>
            <a:ext cx="457200" cy="457200"/>
          </a:xfrm>
          <a:prstGeom prst="ellipse">
            <a:avLst/>
          </a:prstGeom>
          <a:solidFill>
            <a:srgbClr val="CADCFC"/>
          </a:solidFill>
          <a:ln/>
        </p:spPr>
      </p:sp>
      <p:pic>
        <p:nvPicPr>
          <p:cNvPr id="15" name="Image 2" descr="preencoded.png">    </p:cNvPr>
          <p:cNvPicPr>
            <a:picLocks noChangeAspect="1"/>
          </p:cNvPicPr>
          <p:nvPr/>
        </p:nvPicPr>
        <p:blipFill>
          <a:blip r:embed="rId3"/>
          <a:stretch>
            <a:fillRect/>
          </a:stretch>
        </p:blipFill>
        <p:spPr>
          <a:xfrm>
            <a:off x="6958584" y="3995928"/>
            <a:ext cx="256032" cy="256032"/>
          </a:xfrm>
          <a:prstGeom prst="rect">
            <a:avLst/>
          </a:prstGeom>
        </p:spPr>
      </p:pic>
      <p:sp>
        <p:nvSpPr>
          <p:cNvPr id="16" name="Text 11"/>
          <p:cNvSpPr/>
          <p:nvPr/>
        </p:nvSpPr>
        <p:spPr>
          <a:xfrm>
            <a:off x="7498080" y="3877056"/>
            <a:ext cx="4023360" cy="777240"/>
          </a:xfrm>
          <a:prstGeom prst="rect">
            <a:avLst/>
          </a:prstGeom>
          <a:noFill/>
          <a:ln/>
        </p:spPr>
        <p:txBody>
          <a:bodyPr wrap="square" lIns="0" tIns="0" rIns="0" bIns="0" rtlCol="0" anchor="ctr"/>
          <a:lstStyle/>
          <a:p>
            <a:pPr indent="0" marL="0">
              <a:buNone/>
            </a:pPr>
            <a:r>
              <a:rPr lang="en-US" sz="1250" dirty="0">
                <a:solidFill>
                  <a:srgbClr val="232634"/>
                </a:solidFill>
                <a:latin typeface="Calibri" pitchFamily="34" charset="0"/>
                <a:ea typeface="Calibri" pitchFamily="34" charset="-122"/>
                <a:cs typeface="Calibri" pitchFamily="34" charset="-120"/>
              </a:rPr>
              <a:t>Estimate difficulty at the item level and compare different ways of asking for confidence.</a:t>
            </a:r>
            <a:endParaRPr lang="en-US" sz="1250" dirty="0"/>
          </a:p>
        </p:txBody>
      </p:sp>
      <p:sp>
        <p:nvSpPr>
          <p:cNvPr id="17" name="Shape 12"/>
          <p:cNvSpPr/>
          <p:nvPr/>
        </p:nvSpPr>
        <p:spPr>
          <a:xfrm>
            <a:off x="6858000" y="4791456"/>
            <a:ext cx="457200" cy="457200"/>
          </a:xfrm>
          <a:prstGeom prst="ellipse">
            <a:avLst/>
          </a:prstGeom>
          <a:solidFill>
            <a:srgbClr val="CADCFC"/>
          </a:solidFill>
          <a:ln/>
        </p:spPr>
      </p:sp>
      <p:pic>
        <p:nvPicPr>
          <p:cNvPr id="18" name="Image 3" descr="preencoded.png">    </p:cNvPr>
          <p:cNvPicPr>
            <a:picLocks noChangeAspect="1"/>
          </p:cNvPicPr>
          <p:nvPr/>
        </p:nvPicPr>
        <p:blipFill>
          <a:blip r:embed="rId4"/>
          <a:stretch>
            <a:fillRect/>
          </a:stretch>
        </p:blipFill>
        <p:spPr>
          <a:xfrm>
            <a:off x="6958584" y="4892040"/>
            <a:ext cx="256032" cy="256032"/>
          </a:xfrm>
          <a:prstGeom prst="rect">
            <a:avLst/>
          </a:prstGeom>
        </p:spPr>
      </p:pic>
      <p:sp>
        <p:nvSpPr>
          <p:cNvPr id="19" name="Text 13"/>
          <p:cNvSpPr/>
          <p:nvPr/>
        </p:nvSpPr>
        <p:spPr>
          <a:xfrm>
            <a:off x="7498080" y="4773168"/>
            <a:ext cx="4023360" cy="777240"/>
          </a:xfrm>
          <a:prstGeom prst="rect">
            <a:avLst/>
          </a:prstGeom>
          <a:noFill/>
          <a:ln/>
        </p:spPr>
        <p:txBody>
          <a:bodyPr wrap="square" lIns="0" tIns="0" rIns="0" bIns="0" rtlCol="0" anchor="ctr"/>
          <a:lstStyle/>
          <a:p>
            <a:pPr indent="0" marL="0">
              <a:buNone/>
            </a:pPr>
            <a:r>
              <a:rPr lang="en-US" sz="1250" dirty="0">
                <a:solidFill>
                  <a:srgbClr val="232634"/>
                </a:solidFill>
                <a:latin typeface="Calibri" pitchFamily="34" charset="0"/>
                <a:ea typeface="Calibri" pitchFamily="34" charset="-122"/>
                <a:cs typeface="Calibri" pitchFamily="34" charset="-120"/>
              </a:rPr>
              <a:t>Connect calibration metrics to how people actually rely on model answers.</a:t>
            </a:r>
            <a:endParaRPr lang="en-US" sz="1250" dirty="0"/>
          </a:p>
        </p:txBody>
      </p:sp>
      <p:sp>
        <p:nvSpPr>
          <p:cNvPr id="20" name="Shape 14"/>
          <p:cNvSpPr/>
          <p:nvPr/>
        </p:nvSpPr>
        <p:spPr>
          <a:xfrm>
            <a:off x="6858000" y="5687568"/>
            <a:ext cx="457200" cy="457200"/>
          </a:xfrm>
          <a:prstGeom prst="ellipse">
            <a:avLst/>
          </a:prstGeom>
          <a:solidFill>
            <a:srgbClr val="CADCFC"/>
          </a:solidFill>
          <a:ln/>
        </p:spPr>
      </p:sp>
      <p:pic>
        <p:nvPicPr>
          <p:cNvPr id="21" name="Image 4" descr="preencoded.png">    </p:cNvPr>
          <p:cNvPicPr>
            <a:picLocks noChangeAspect="1"/>
          </p:cNvPicPr>
          <p:nvPr/>
        </p:nvPicPr>
        <p:blipFill>
          <a:blip r:embed="rId5"/>
          <a:stretch>
            <a:fillRect/>
          </a:stretch>
        </p:blipFill>
        <p:spPr>
          <a:xfrm>
            <a:off x="6958584" y="5788152"/>
            <a:ext cx="256032" cy="256032"/>
          </a:xfrm>
          <a:prstGeom prst="rect">
            <a:avLst/>
          </a:prstGeom>
        </p:spPr>
      </p:pic>
      <p:sp>
        <p:nvSpPr>
          <p:cNvPr id="22" name="Text 15"/>
          <p:cNvSpPr/>
          <p:nvPr/>
        </p:nvSpPr>
        <p:spPr>
          <a:xfrm>
            <a:off x="7498080" y="5669280"/>
            <a:ext cx="4023360" cy="777240"/>
          </a:xfrm>
          <a:prstGeom prst="rect">
            <a:avLst/>
          </a:prstGeom>
          <a:noFill/>
          <a:ln/>
        </p:spPr>
        <p:txBody>
          <a:bodyPr wrap="square" lIns="0" tIns="0" rIns="0" bIns="0" rtlCol="0" anchor="ctr"/>
          <a:lstStyle/>
          <a:p>
            <a:pPr indent="0" marL="0">
              <a:buNone/>
            </a:pPr>
            <a:r>
              <a:rPr lang="en-US" sz="1250" dirty="0">
                <a:solidFill>
                  <a:srgbClr val="232634"/>
                </a:solidFill>
                <a:latin typeface="Calibri" pitchFamily="34" charset="0"/>
                <a:ea typeface="Calibri" pitchFamily="34" charset="-122"/>
                <a:cs typeface="Calibri" pitchFamily="34" charset="-120"/>
              </a:rPr>
              <a:t>Repeat verbal versus internal comparisons wherever providers expose token probabilities.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2011680" y="-2743200"/>
            <a:ext cx="6400800" cy="6400800"/>
          </a:xfrm>
          <a:prstGeom prst="ellipse">
            <a:avLst/>
          </a:prstGeom>
          <a:solidFill>
            <a:srgbClr val="2A3577"/>
          </a:solidFill>
          <a:ln/>
        </p:spPr>
      </p:sp>
      <p:sp>
        <p:nvSpPr>
          <p:cNvPr id="3" name="Text 1"/>
          <p:cNvSpPr/>
          <p:nvPr/>
        </p:nvSpPr>
        <p:spPr>
          <a:xfrm>
            <a:off x="777240" y="685800"/>
            <a:ext cx="10607040" cy="365760"/>
          </a:xfrm>
          <a:prstGeom prst="rect">
            <a:avLst/>
          </a:prstGeom>
          <a:noFill/>
          <a:ln/>
        </p:spPr>
        <p:txBody>
          <a:bodyPr wrap="square" lIns="0" tIns="0" rIns="0" bIns="0" rtlCol="0" anchor="ctr"/>
          <a:lstStyle/>
          <a:p>
            <a:pPr indent="0" marL="0">
              <a:buNone/>
            </a:pPr>
            <a:r>
              <a:rPr lang="en-US" sz="1400" b="1" spc="300" kern="0" dirty="0">
                <a:solidFill>
                  <a:srgbClr val="CADCFC"/>
                </a:solidFill>
                <a:latin typeface="Calibri" pitchFamily="34" charset="0"/>
                <a:ea typeface="Calibri" pitchFamily="34" charset="-122"/>
                <a:cs typeface="Calibri" pitchFamily="34" charset="-120"/>
              </a:rPr>
              <a:t>AI USE TRANSPARENCY STATEMENT</a:t>
            </a:r>
            <a:endParaRPr lang="en-US" sz="1400" dirty="0"/>
          </a:p>
        </p:txBody>
      </p:sp>
      <p:sp>
        <p:nvSpPr>
          <p:cNvPr id="4" name="Text 2"/>
          <p:cNvSpPr/>
          <p:nvPr/>
        </p:nvSpPr>
        <p:spPr>
          <a:xfrm>
            <a:off x="777240" y="1097280"/>
            <a:ext cx="10607040" cy="6858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How AI Tools Were Used in This Project</a:t>
            </a:r>
            <a:endParaRPr lang="en-US" sz="3400" dirty="0"/>
          </a:p>
        </p:txBody>
      </p:sp>
      <p:sp>
        <p:nvSpPr>
          <p:cNvPr id="5" name="Shape 3"/>
          <p:cNvSpPr/>
          <p:nvPr/>
        </p:nvSpPr>
        <p:spPr>
          <a:xfrm>
            <a:off x="777240" y="2240280"/>
            <a:ext cx="10607040" cy="1207008"/>
          </a:xfrm>
          <a:prstGeom prst="roundRect">
            <a:avLst>
              <a:gd name="adj" fmla="val 6061"/>
            </a:avLst>
          </a:prstGeom>
          <a:solidFill>
            <a:srgbClr val="2A3577"/>
          </a:solidFill>
          <a:ln/>
        </p:spPr>
      </p:sp>
      <p:sp>
        <p:nvSpPr>
          <p:cNvPr id="6" name="Shape 4"/>
          <p:cNvSpPr/>
          <p:nvPr/>
        </p:nvSpPr>
        <p:spPr>
          <a:xfrm>
            <a:off x="1005840" y="2441448"/>
            <a:ext cx="502920" cy="502920"/>
          </a:xfrm>
          <a:prstGeom prst="ellipse">
            <a:avLst/>
          </a:prstGeom>
          <a:solidFill>
            <a:srgbClr val="1E2761"/>
          </a:solidFill>
          <a:ln/>
        </p:spPr>
      </p:sp>
      <p:pic>
        <p:nvPicPr>
          <p:cNvPr id="7" name="Image 0" descr="preencoded.png">    </p:cNvPr>
          <p:cNvPicPr>
            <a:picLocks noChangeAspect="1"/>
          </p:cNvPicPr>
          <p:nvPr/>
        </p:nvPicPr>
        <p:blipFill>
          <a:blip r:embed="rId1"/>
          <a:stretch>
            <a:fillRect/>
          </a:stretch>
        </p:blipFill>
        <p:spPr>
          <a:xfrm>
            <a:off x="1116482" y="2552090"/>
            <a:ext cx="281635" cy="281635"/>
          </a:xfrm>
          <a:prstGeom prst="rect">
            <a:avLst/>
          </a:prstGeom>
        </p:spPr>
      </p:pic>
      <p:sp>
        <p:nvSpPr>
          <p:cNvPr id="8" name="Text 5"/>
          <p:cNvSpPr/>
          <p:nvPr/>
        </p:nvSpPr>
        <p:spPr>
          <a:xfrm>
            <a:off x="1691640" y="2404872"/>
            <a:ext cx="9418320" cy="32004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AI as the subject</a:t>
            </a:r>
            <a:endParaRPr lang="en-US" sz="1550" dirty="0"/>
          </a:p>
        </p:txBody>
      </p:sp>
      <p:sp>
        <p:nvSpPr>
          <p:cNvPr id="9" name="Text 6"/>
          <p:cNvSpPr/>
          <p:nvPr/>
        </p:nvSpPr>
        <p:spPr>
          <a:xfrm>
            <a:off x="1691640" y="2734056"/>
            <a:ext cx="9418320" cy="658368"/>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Language model APIs from Anthropic, OpenAI, and Google were the subjects of the experiment. All inference calls, prompts, and raw outputs are archived in the project repository.</a:t>
            </a:r>
            <a:endParaRPr lang="en-US" sz="1250" dirty="0"/>
          </a:p>
        </p:txBody>
      </p:sp>
      <p:sp>
        <p:nvSpPr>
          <p:cNvPr id="10" name="Shape 7"/>
          <p:cNvSpPr/>
          <p:nvPr/>
        </p:nvSpPr>
        <p:spPr>
          <a:xfrm>
            <a:off x="777240" y="3611880"/>
            <a:ext cx="10607040" cy="1207008"/>
          </a:xfrm>
          <a:prstGeom prst="roundRect">
            <a:avLst>
              <a:gd name="adj" fmla="val 6061"/>
            </a:avLst>
          </a:prstGeom>
          <a:solidFill>
            <a:srgbClr val="2A3577"/>
          </a:solidFill>
          <a:ln/>
        </p:spPr>
      </p:sp>
      <p:sp>
        <p:nvSpPr>
          <p:cNvPr id="11" name="Shape 8"/>
          <p:cNvSpPr/>
          <p:nvPr/>
        </p:nvSpPr>
        <p:spPr>
          <a:xfrm>
            <a:off x="1005840" y="3813048"/>
            <a:ext cx="502920" cy="502920"/>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1116482" y="3923690"/>
            <a:ext cx="281635" cy="281635"/>
          </a:xfrm>
          <a:prstGeom prst="rect">
            <a:avLst/>
          </a:prstGeom>
        </p:spPr>
      </p:pic>
      <p:sp>
        <p:nvSpPr>
          <p:cNvPr id="13" name="Text 9"/>
          <p:cNvSpPr/>
          <p:nvPr/>
        </p:nvSpPr>
        <p:spPr>
          <a:xfrm>
            <a:off x="1691640" y="3776472"/>
            <a:ext cx="9418320" cy="32004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AI as an editing aid</a:t>
            </a:r>
            <a:endParaRPr lang="en-US" sz="1550" dirty="0"/>
          </a:p>
        </p:txBody>
      </p:sp>
      <p:sp>
        <p:nvSpPr>
          <p:cNvPr id="14" name="Text 10"/>
          <p:cNvSpPr/>
          <p:nvPr/>
        </p:nvSpPr>
        <p:spPr>
          <a:xfrm>
            <a:off x="1691640" y="4105656"/>
            <a:ext cx="9418320" cy="658368"/>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An AI assistant was used only to help with LaTeX formatting and editing of the written brief.</a:t>
            </a:r>
            <a:endParaRPr lang="en-US" sz="1250" dirty="0"/>
          </a:p>
        </p:txBody>
      </p:sp>
      <p:sp>
        <p:nvSpPr>
          <p:cNvPr id="15" name="Shape 11"/>
          <p:cNvSpPr/>
          <p:nvPr/>
        </p:nvSpPr>
        <p:spPr>
          <a:xfrm>
            <a:off x="777240" y="4983480"/>
            <a:ext cx="10607040" cy="1207008"/>
          </a:xfrm>
          <a:prstGeom prst="roundRect">
            <a:avLst>
              <a:gd name="adj" fmla="val 6061"/>
            </a:avLst>
          </a:prstGeom>
          <a:solidFill>
            <a:srgbClr val="2A3577"/>
          </a:solidFill>
          <a:ln/>
        </p:spPr>
      </p:sp>
      <p:sp>
        <p:nvSpPr>
          <p:cNvPr id="16" name="Shape 12"/>
          <p:cNvSpPr/>
          <p:nvPr/>
        </p:nvSpPr>
        <p:spPr>
          <a:xfrm>
            <a:off x="1005840" y="5184648"/>
            <a:ext cx="502920" cy="502920"/>
          </a:xfrm>
          <a:prstGeom prst="ellipse">
            <a:avLst/>
          </a:prstGeom>
          <a:solidFill>
            <a:srgbClr val="1E2761"/>
          </a:solidFill>
          <a:ln/>
        </p:spPr>
      </p:sp>
      <p:pic>
        <p:nvPicPr>
          <p:cNvPr id="17" name="Image 2" descr="preencoded.png">    </p:cNvPr>
          <p:cNvPicPr>
            <a:picLocks noChangeAspect="1"/>
          </p:cNvPicPr>
          <p:nvPr/>
        </p:nvPicPr>
        <p:blipFill>
          <a:blip r:embed="rId3"/>
          <a:stretch>
            <a:fillRect/>
          </a:stretch>
        </p:blipFill>
        <p:spPr>
          <a:xfrm>
            <a:off x="1116482" y="5295290"/>
            <a:ext cx="281635" cy="281635"/>
          </a:xfrm>
          <a:prstGeom prst="rect">
            <a:avLst/>
          </a:prstGeom>
        </p:spPr>
      </p:pic>
      <p:sp>
        <p:nvSpPr>
          <p:cNvPr id="18" name="Text 13"/>
          <p:cNvSpPr/>
          <p:nvPr/>
        </p:nvSpPr>
        <p:spPr>
          <a:xfrm>
            <a:off x="1691640" y="5148072"/>
            <a:ext cx="9418320" cy="32004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Author-produced science</a:t>
            </a:r>
            <a:endParaRPr lang="en-US" sz="1550" dirty="0"/>
          </a:p>
        </p:txBody>
      </p:sp>
      <p:sp>
        <p:nvSpPr>
          <p:cNvPr id="19" name="Text 14"/>
          <p:cNvSpPr/>
          <p:nvPr/>
        </p:nvSpPr>
        <p:spPr>
          <a:xfrm>
            <a:off x="1691640" y="5477256"/>
            <a:ext cx="9418320" cy="658368"/>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All experimental data, statistical analyses, figures, and tables came from the authors' own code (src/analyze_v2.py). Every claim and reference was verified by the authors against the original sources.</a:t>
            </a:r>
            <a:endParaRPr lang="en-US" sz="1250" dirty="0"/>
          </a:p>
        </p:txBody>
      </p:sp>
      <p:sp>
        <p:nvSpPr>
          <p:cNvPr id="20" name="Text 15"/>
          <p:cNvSpPr/>
          <p:nvPr/>
        </p:nvSpPr>
        <p:spPr>
          <a:xfrm>
            <a:off x="777240" y="6400800"/>
            <a:ext cx="10607040" cy="274320"/>
          </a:xfrm>
          <a:prstGeom prst="rect">
            <a:avLst/>
          </a:prstGeom>
          <a:noFill/>
          <a:ln/>
        </p:spPr>
        <p:txBody>
          <a:bodyPr wrap="square" lIns="0" tIns="0" rIns="0" bIns="0" rtlCol="0" anchor="ctr"/>
          <a:lstStyle/>
          <a:p>
            <a:pPr indent="0" marL="0">
              <a:buNone/>
            </a:pPr>
            <a:r>
              <a:rPr lang="en-US" sz="1150" i="1" dirty="0">
                <a:solidFill>
                  <a:srgbClr val="CADCFC"/>
                </a:solidFill>
                <a:latin typeface="Calibri" pitchFamily="34" charset="0"/>
                <a:ea typeface="Calibri" pitchFamily="34" charset="-122"/>
                <a:cs typeface="Calibri" pitchFamily="34" charset="-120"/>
              </a:rPr>
              <a:t>Deshpande &amp; Bajpai • Monroe Township High School • 2026</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2026-07-18T22:44:12Z</dcterms:created>
  <dcterms:modified xsi:type="dcterms:W3CDTF">2026-07-18T22:44:12Z</dcterms:modified>
</cp:coreProperties>
</file>